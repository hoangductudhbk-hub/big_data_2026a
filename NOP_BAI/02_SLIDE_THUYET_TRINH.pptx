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8" r:id="rId8"/>
    <p:sldId id="272" r:id="rId27"/>
    <p:sldId id="261" r:id="rId11"/>
    <p:sldId id="279" r:id="rId34"/>
    <p:sldId id="276" r:id="rId31"/>
    <p:sldId id="266" r:id="rId16"/>
    <p:sldId id="277" r:id="rId32"/>
    <p:sldId id="283" r:id="rId38"/>
    <p:sldId id="278" r:id="rId33"/>
    <p:sldId id="280" r:id="rId35"/>
    <p:sldId id="282" r:id="rId37"/>
    <p:sldId id="281" r:id="rId36"/>
    <p:sldId id="274" r:id="rId29"/>
    <p:sldId id="271" r:id="rId21"/>
  </p:sldIdLst>
  <p:sldSz cy="6858000" cx="9144000"/>
  <p:notesSz cx="6858000" cy="9144000"/>
  <p:embeddedFontLst>
    <p:embeddedFont>
      <p:font typeface="Lat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ihK3preotSVpgRXrA91+5iL1ez8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4033C7A-9C67-4C24-927B-C2B0E714BF9A}">
  <a:tblStyle styleId="{84033C7A-9C67-4C24-927B-C2B0E714BF9A}"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4.xml"/><Relationship Id="rId16" Type="http://schemas.openxmlformats.org/officeDocument/2006/relationships/slide" Target="slides/slide7.xml"/><Relationship Id="rId21" Type="http://schemas.openxmlformats.org/officeDocument/2006/relationships/slide" Target="slides/slide15.xml"/><Relationship Id="rId22" Type="http://schemas.openxmlformats.org/officeDocument/2006/relationships/font" Target="fonts/Lato-regular.fntdata"/><Relationship Id="rId23" Type="http://schemas.openxmlformats.org/officeDocument/2006/relationships/font" Target="fonts/Lato-bold.fntdata"/><Relationship Id="rId24" Type="http://schemas.openxmlformats.org/officeDocument/2006/relationships/font" Target="fonts/Lato-italic.fntdata"/><Relationship Id="rId25" Type="http://schemas.openxmlformats.org/officeDocument/2006/relationships/font" Target="fonts/Lato-boldItalic.fntdata"/><Relationship Id="rId26" Type="http://customschemas.google.com/relationships/presentationmetadata" Target="metadata"/><Relationship Id="rId27" Type="http://schemas.openxmlformats.org/officeDocument/2006/relationships/slide" Target="slides/slide3.xml"/><Relationship Id="rId29" Type="http://schemas.openxmlformats.org/officeDocument/2006/relationships/slide" Target="slides/slide14.xml"/><Relationship Id="rId31" Type="http://schemas.openxmlformats.org/officeDocument/2006/relationships/slide" Target="slides/slide6.xml"/><Relationship Id="rId32" Type="http://schemas.openxmlformats.org/officeDocument/2006/relationships/slide" Target="slides/slide8.xml"/><Relationship Id="rId33" Type="http://schemas.openxmlformats.org/officeDocument/2006/relationships/slide" Target="slides/slide10.xml"/><Relationship Id="rId34" Type="http://schemas.openxmlformats.org/officeDocument/2006/relationships/slide" Target="slides/slide5.xml"/><Relationship Id="rId35" Type="http://schemas.openxmlformats.org/officeDocument/2006/relationships/slide" Target="slides/slide11.xml"/><Relationship Id="rId36" Type="http://schemas.openxmlformats.org/officeDocument/2006/relationships/slide" Target="slides/slide13.xml"/><Relationship Id="rId37" Type="http://schemas.openxmlformats.org/officeDocument/2006/relationships/slide" Target="slides/slide12.xml"/><Relationship Id="rId3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Kính chào cô và hội đồng. Nhóm em xin trình bày đồ án xây dựng một hệ thống dữ liệu lớn hoàn chỉnh cho giao thông New York năm 2024, từ thu thập, tích hợp ba nguồn dữ liệu khác nhau, xử lý bằng Spark, cho tới API và dashboard.</a:t>
            </a:r>
          </a:p>
        </p:txBody>
      </p:sp>
      <p:sp>
        <p:nvSpPr>
          <p:cNvPr id="78" name="Google Shape;78;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Hệ thống chia làm ba phase. Phase 1 tích hợp dữ liệu, Phase 2 xử lý bằng PySpark, Phase 3 lưu trữ và trực quan hóa. Ba phase giao tiếp qua một data contract cố định, nên các phần được phát triển song song mà không lệch nhau.</a:t>
            </a:r>
          </a:p>
        </p:txBody>
      </p:sp>
      <p:sp>
        <p:nvSpPr>
          <p:cNvPr id="91" name="Google Shape;91;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Lấy mẫu một phần trăm cho sai số dưới nửa phần trăm và kèm được khoảng tin cậy. Khi tăng dữ liệu lên tới 145 triệu dòng, thời gian tăng tuyến tính còn bộ nhớ gần như không đổi, vì groupBy đọc theo luồng; nghĩa là hệ thống xử lý được dữ liệu lớn hơn bộ nhớ.</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Ba nguồn khác nhau ở mọi khía cạnh: tên cột, đơn vị, hệ tọa độ, độ chi tiết thời gian. Đây chính là bài toán không đồng nhất lược đồ và không đồng nhất dữ liệu trong lý thuyết tích hợp.</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Nhóm làm profiling trước để quy tắc làm sạch dựa trên bằng chứng. Phát hiện đáng chú ý nhất là chuỗi tọa độ bị cắt ở 255 ký tự: nếu không xử lý, khoảng cách địa lý ở bước record linkage sẽ sai.</a:t>
            </a:r>
          </a:p>
        </p:txBody>
      </p:sp>
      <p:sp>
        <p:nvSpPr>
          <p:cNvPr id="109" name="Google Shape;109;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Matcher tự động chỉ tìm tương ứng một-một theo tên, không hiểu rằng năm cột ngày giờ phải ghép thành một timestamp hay tốc độ phải nhân hệ số rồi lấy trung bình theo giờ. Vì vậy nhóm dùng ánh xạ GAV viết tay; truy vấn trên lược đồ trung gian được trả lời bằng unfolding, ở đây thực hiện trước thành bảng integrated_traffic.</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Luật Levenshtein ban đầu ghép sai 331 trên 336 cặp, vì edit distance coi mọi ký tự như nhau, trong khi chỉ một chữ số khác là đã thành đường khác. Nhóm thêm ràng buộc nghiệp vụ và đổi sang OSA để xử lý lỗi đảo ký tự, precision tăng từ 0,015 lên 0,833 mà recall vẫn bằng 1.</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Data contract là xương sống của hệ thống. Nhờ nó, ràng buộc trong database được sinh tự động chứ không viết tay, và dữ liệu sai lược đồ bị chặn ngay từ cửa vào, dù đến từ pipeline hay từ người dùng import.</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Nếu chỉ so hai truy vấn khi Catalyst bật thì chúng chạy như nhau, vì Catalyst đã tự đẩy filter xuống. Nhóm phải tắt năm quy tắc tối ưu mới đo được giá trị thật: lọc trước giảm 11 lần số dòng vào join và nhanh hơn 4 lần.</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Khóa blocking hai chữ cái đầu nhanh hơn nhưng bỏ lỡ đúng lỗi gõ ở ký tự thứ hai, nên khóa blocking phải ổn định trước đúng loại lỗi cần bắt. Hai nguồn giao nhau rất ít là hiện trạng của dữ liệu, nhóm báo cáo đúng như vậy chứ không cố ghép cho nhiều.</a:t>
            </a:r>
          </a:p>
        </p:txBody>
      </p:sp>
      <p:sp>
        <p:nvSpPr>
          <p:cNvPr id="142" name="Google Shape;142;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Biểu đồ theo giờ cho thấy cao điểm chiều nặng hơn cao điểm sáng, và cuối tuần không có cao điểm sáng. Tốc độ và lưu lượng được vẽ thành hai biểu đồ riêng để không tạo ra tương quan giả của biểu đồ hai trục.</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 sánh thô cho kết quả vô lý là tuyết làm xe chạy nhanh hơn. Kiểm soát theo đường và giờ vẫn chưa hết, chỉ khi kiểm soát thêm theo tháng thì tác động về gần 0, tức đó là hiệu ứng mùa đông vắng xe. Còn mưa thì làm chậm thật 4,6%, và gấp đôi khi rơi vào giờ cao điểm.</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Z-score theo đường gần như mù vì tốc độ dao động mạnh trong ngày. Theo ngữ cảnh thì bắt được 97% bất thường cài sẵn, và trên dữ liệu thật thuật toán tự tìm lại ngày bão tuyết lớn nhất năm mà không cần ai chỉ trước.</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Toàn bộ hệ thống chạy được bằng một lệnh Docker và đạt đủ 17 tiêu chí hoàn thành. Sau đây nhóm em xin demo trực tiếp hệ thống.</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Em xin cảm ơn cô và hội đồng đã lắng nghe. Nhóm em xin được nhận câu hỏi.</a:t>
            </a:r>
          </a:p>
        </p:txBody>
      </p:sp>
      <p:sp>
        <p:nvSpPr>
          <p:cNvPr id="173" name="Google Shape;173;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bg>
      <p:bgPr>
        <a:blipFill>
          <a:blip r:embed="rId2">
            <a:alphaModFix/>
          </a:blip>
          <a:stretch>
            <a:fillRect/>
          </a:stretch>
        </a:blip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p:cSld name="1_Section Header">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19"/>
          <p:cNvSpPr txBox="1"/>
          <p:nvPr>
            <p:ph idx="10" type="dt"/>
          </p:nvPr>
        </p:nvSpPr>
        <p:spPr>
          <a:xfrm>
            <a:off x="628650" y="6565257"/>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9"/>
          <p:cNvSpPr txBox="1"/>
          <p:nvPr>
            <p:ph idx="11" type="ftr"/>
          </p:nvPr>
        </p:nvSpPr>
        <p:spPr>
          <a:xfrm>
            <a:off x="3028950" y="6565257"/>
            <a:ext cx="30861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9"/>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19"/>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19"/>
          <p:cNvSpPr txBox="1"/>
          <p:nvPr>
            <p:ph idx="1" type="body"/>
          </p:nvPr>
        </p:nvSpPr>
        <p:spPr>
          <a:xfrm>
            <a:off x="235077" y="841247"/>
            <a:ext cx="8674100" cy="53033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arison">
  <p:cSld name="1_Comparison">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20"/>
          <p:cNvSpPr txBox="1"/>
          <p:nvPr>
            <p:ph idx="10" type="dt"/>
          </p:nvPr>
        </p:nvSpPr>
        <p:spPr>
          <a:xfrm>
            <a:off x="628650" y="6565257"/>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 name="Google Shape;19;p20"/>
          <p:cNvSpPr txBox="1"/>
          <p:nvPr>
            <p:ph idx="11" type="ftr"/>
          </p:nvPr>
        </p:nvSpPr>
        <p:spPr>
          <a:xfrm>
            <a:off x="3028950" y="6565257"/>
            <a:ext cx="30861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 name="Google Shape;20;p20"/>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21" name="Google Shape;21;p20"/>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 name="Google Shape;22;p20"/>
          <p:cNvSpPr txBox="1"/>
          <p:nvPr>
            <p:ph idx="1" type="body"/>
          </p:nvPr>
        </p:nvSpPr>
        <p:spPr>
          <a:xfrm>
            <a:off x="234950" y="963168"/>
            <a:ext cx="8674100" cy="5132832"/>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wo Content">
  <p:cSld name="2_Two Content">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21"/>
          <p:cNvSpPr txBox="1"/>
          <p:nvPr>
            <p:ph idx="10" type="dt"/>
          </p:nvPr>
        </p:nvSpPr>
        <p:spPr>
          <a:xfrm>
            <a:off x="628650" y="6565257"/>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5" name="Google Shape;25;p21"/>
          <p:cNvSpPr txBox="1"/>
          <p:nvPr>
            <p:ph idx="11" type="ftr"/>
          </p:nvPr>
        </p:nvSpPr>
        <p:spPr>
          <a:xfrm>
            <a:off x="3028950" y="6565257"/>
            <a:ext cx="30861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6" name="Google Shape;26;p21"/>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27" name="Google Shape;27;p21"/>
          <p:cNvSpPr txBox="1"/>
          <p:nvPr>
            <p:ph idx="1" type="body"/>
          </p:nvPr>
        </p:nvSpPr>
        <p:spPr>
          <a:xfrm>
            <a:off x="528828" y="1423289"/>
            <a:ext cx="38862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8" name="Google Shape;28;p21"/>
          <p:cNvSpPr txBox="1"/>
          <p:nvPr>
            <p:ph idx="2" type="body"/>
          </p:nvPr>
        </p:nvSpPr>
        <p:spPr>
          <a:xfrm>
            <a:off x="4572000" y="1423289"/>
            <a:ext cx="38862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9" name="Google Shape;29;p21"/>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lank">
  <p:cSld name="2_Blank">
    <p:bg>
      <p:bgPr>
        <a:blipFill>
          <a:blip r:embed="rId2">
            <a:alphaModFix/>
          </a:blip>
          <a:stretch>
            <a:fillRect/>
          </a:stretch>
        </a:blipFill>
      </p:bgPr>
    </p:bg>
    <p:spTree>
      <p:nvGrpSpPr>
        <p:cNvPr id="30" name="Shape 30"/>
        <p:cNvGrpSpPr/>
        <p:nvPr/>
      </p:nvGrpSpPr>
      <p:grpSpPr>
        <a:xfrm>
          <a:off x="0" y="0"/>
          <a:ext cx="0" cy="0"/>
          <a:chOff x="0" y="0"/>
          <a:chExt cx="0" cy="0"/>
        </a:xfrm>
      </p:grpSpPr>
      <p:sp>
        <p:nvSpPr>
          <p:cNvPr id="31" name="Google Shape;31;p22"/>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2" name="Google Shape;32;p22"/>
          <p:cNvSpPr txBox="1"/>
          <p:nvPr>
            <p:ph idx="1" type="body"/>
          </p:nvPr>
        </p:nvSpPr>
        <p:spPr>
          <a:xfrm>
            <a:off x="595884" y="1533017"/>
            <a:ext cx="38862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3" name="Google Shape;33;p22"/>
          <p:cNvSpPr txBox="1"/>
          <p:nvPr>
            <p:ph idx="2" type="body"/>
          </p:nvPr>
        </p:nvSpPr>
        <p:spPr>
          <a:xfrm>
            <a:off x="4639056" y="1533017"/>
            <a:ext cx="38862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4" name="Google Shape;34;p22"/>
          <p:cNvSpPr txBox="1"/>
          <p:nvPr>
            <p:ph idx="10" type="dt"/>
          </p:nvPr>
        </p:nvSpPr>
        <p:spPr>
          <a:xfrm>
            <a:off x="628650" y="6565257"/>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1F3864"/>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5" name="Google Shape;35;p22"/>
          <p:cNvSpPr txBox="1"/>
          <p:nvPr>
            <p:ph idx="11" type="ftr"/>
          </p:nvPr>
        </p:nvSpPr>
        <p:spPr>
          <a:xfrm>
            <a:off x="3028950" y="6565257"/>
            <a:ext cx="30861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1F3864"/>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6" name="Google Shape;36;p22"/>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1F3864"/>
                </a:solidFill>
                <a:latin typeface="Lato"/>
                <a:ea typeface="Lato"/>
                <a:cs typeface="Lato"/>
                <a:sym typeface="Lato"/>
              </a:defRPr>
            </a:lvl1pPr>
            <a:lvl2pPr indent="0" lvl="1" marL="0" marR="0" rtl="0" algn="r">
              <a:spcBef>
                <a:spcPts val="0"/>
              </a:spcBef>
              <a:buNone/>
              <a:defRPr b="1" i="0" sz="1200" u="none" cap="none" strike="noStrike">
                <a:solidFill>
                  <a:srgbClr val="1F3864"/>
                </a:solidFill>
                <a:latin typeface="Lato"/>
                <a:ea typeface="Lato"/>
                <a:cs typeface="Lato"/>
                <a:sym typeface="Lato"/>
              </a:defRPr>
            </a:lvl2pPr>
            <a:lvl3pPr indent="0" lvl="2" marL="0" marR="0" rtl="0" algn="r">
              <a:spcBef>
                <a:spcPts val="0"/>
              </a:spcBef>
              <a:buNone/>
              <a:defRPr b="1" i="0" sz="1200" u="none" cap="none" strike="noStrike">
                <a:solidFill>
                  <a:srgbClr val="1F3864"/>
                </a:solidFill>
                <a:latin typeface="Lato"/>
                <a:ea typeface="Lato"/>
                <a:cs typeface="Lato"/>
                <a:sym typeface="Lato"/>
              </a:defRPr>
            </a:lvl3pPr>
            <a:lvl4pPr indent="0" lvl="3" marL="0" marR="0" rtl="0" algn="r">
              <a:spcBef>
                <a:spcPts val="0"/>
              </a:spcBef>
              <a:buNone/>
              <a:defRPr b="1" i="0" sz="1200" u="none" cap="none" strike="noStrike">
                <a:solidFill>
                  <a:srgbClr val="1F3864"/>
                </a:solidFill>
                <a:latin typeface="Lato"/>
                <a:ea typeface="Lato"/>
                <a:cs typeface="Lato"/>
                <a:sym typeface="Lato"/>
              </a:defRPr>
            </a:lvl4pPr>
            <a:lvl5pPr indent="0" lvl="4" marL="0" marR="0" rtl="0" algn="r">
              <a:spcBef>
                <a:spcPts val="0"/>
              </a:spcBef>
              <a:buNone/>
              <a:defRPr b="1" i="0" sz="1200" u="none" cap="none" strike="noStrike">
                <a:solidFill>
                  <a:srgbClr val="1F3864"/>
                </a:solidFill>
                <a:latin typeface="Lato"/>
                <a:ea typeface="Lato"/>
                <a:cs typeface="Lato"/>
                <a:sym typeface="Lato"/>
              </a:defRPr>
            </a:lvl5pPr>
            <a:lvl6pPr indent="0" lvl="5" marL="0" marR="0" rtl="0" algn="r">
              <a:spcBef>
                <a:spcPts val="0"/>
              </a:spcBef>
              <a:buNone/>
              <a:defRPr b="1" i="0" sz="1200" u="none" cap="none" strike="noStrike">
                <a:solidFill>
                  <a:srgbClr val="1F3864"/>
                </a:solidFill>
                <a:latin typeface="Lato"/>
                <a:ea typeface="Lato"/>
                <a:cs typeface="Lato"/>
                <a:sym typeface="Lato"/>
              </a:defRPr>
            </a:lvl6pPr>
            <a:lvl7pPr indent="0" lvl="6" marL="0" marR="0" rtl="0" algn="r">
              <a:spcBef>
                <a:spcPts val="0"/>
              </a:spcBef>
              <a:buNone/>
              <a:defRPr b="1" i="0" sz="1200" u="none" cap="none" strike="noStrike">
                <a:solidFill>
                  <a:srgbClr val="1F3864"/>
                </a:solidFill>
                <a:latin typeface="Lato"/>
                <a:ea typeface="Lato"/>
                <a:cs typeface="Lato"/>
                <a:sym typeface="Lato"/>
              </a:defRPr>
            </a:lvl7pPr>
            <a:lvl8pPr indent="0" lvl="7" marL="0" marR="0" rtl="0" algn="r">
              <a:spcBef>
                <a:spcPts val="0"/>
              </a:spcBef>
              <a:buNone/>
              <a:defRPr b="1" i="0" sz="1200" u="none" cap="none" strike="noStrike">
                <a:solidFill>
                  <a:srgbClr val="1F3864"/>
                </a:solidFill>
                <a:latin typeface="Lato"/>
                <a:ea typeface="Lato"/>
                <a:cs typeface="Lato"/>
                <a:sym typeface="Lato"/>
              </a:defRPr>
            </a:lvl8pPr>
            <a:lvl9pPr indent="0" lvl="8" marL="0" marR="0" rtl="0" algn="r">
              <a:spcBef>
                <a:spcPts val="0"/>
              </a:spcBef>
              <a:buNone/>
              <a:defRPr b="1" i="0" sz="1200" u="none" cap="none" strike="noStrike">
                <a:solidFill>
                  <a:srgbClr val="1F3864"/>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lank">
  <p:cSld name="3_Blank">
    <p:bg>
      <p:bgPr>
        <a:blipFill>
          <a:blip r:embed="rId2">
            <a:alphaModFix/>
          </a:blip>
          <a:stretch>
            <a:fillRect/>
          </a:stretch>
        </a:blipFill>
      </p:bgPr>
    </p:bg>
    <p:spTree>
      <p:nvGrpSpPr>
        <p:cNvPr id="37" name="Shape 37"/>
        <p:cNvGrpSpPr/>
        <p:nvPr/>
      </p:nvGrpSpPr>
      <p:grpSpPr>
        <a:xfrm>
          <a:off x="0" y="0"/>
          <a:ext cx="0" cy="0"/>
          <a:chOff x="0" y="0"/>
          <a:chExt cx="0" cy="0"/>
        </a:xfrm>
      </p:grpSpPr>
      <p:sp>
        <p:nvSpPr>
          <p:cNvPr id="38" name="Google Shape;38;p23"/>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9" name="Google Shape;39;p23"/>
          <p:cNvSpPr txBox="1"/>
          <p:nvPr>
            <p:ph idx="1" type="body"/>
          </p:nvPr>
        </p:nvSpPr>
        <p:spPr>
          <a:xfrm>
            <a:off x="595884" y="1533017"/>
            <a:ext cx="38862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0" name="Google Shape;40;p23"/>
          <p:cNvSpPr txBox="1"/>
          <p:nvPr>
            <p:ph idx="2" type="body"/>
          </p:nvPr>
        </p:nvSpPr>
        <p:spPr>
          <a:xfrm>
            <a:off x="4639056" y="1533017"/>
            <a:ext cx="38862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1" name="Google Shape;41;p23"/>
          <p:cNvSpPr txBox="1"/>
          <p:nvPr>
            <p:ph idx="10" type="dt"/>
          </p:nvPr>
        </p:nvSpPr>
        <p:spPr>
          <a:xfrm>
            <a:off x="628650" y="6565257"/>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2" name="Google Shape;42;p23"/>
          <p:cNvSpPr txBox="1"/>
          <p:nvPr>
            <p:ph idx="11" type="ftr"/>
          </p:nvPr>
        </p:nvSpPr>
        <p:spPr>
          <a:xfrm>
            <a:off x="3028950" y="6565257"/>
            <a:ext cx="30861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3" name="Google Shape;43;p23"/>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mparison">
  <p:cSld name="2_Comparison">
    <p:bg>
      <p:bgPr>
        <a:blipFill>
          <a:blip r:embed="rId2">
            <a:alphaModFix/>
          </a:blip>
          <a:stretch>
            <a:fillRect/>
          </a:stretch>
        </a:blipFill>
      </p:bgPr>
    </p:bg>
    <p:spTree>
      <p:nvGrpSpPr>
        <p:cNvPr id="44" name="Shape 44"/>
        <p:cNvGrpSpPr/>
        <p:nvPr/>
      </p:nvGrpSpPr>
      <p:grpSpPr>
        <a:xfrm>
          <a:off x="0" y="0"/>
          <a:ext cx="0" cy="0"/>
          <a:chOff x="0" y="0"/>
          <a:chExt cx="0" cy="0"/>
        </a:xfrm>
      </p:grpSpPr>
      <p:sp>
        <p:nvSpPr>
          <p:cNvPr id="45" name="Google Shape;45;p24"/>
          <p:cNvSpPr txBox="1"/>
          <p:nvPr>
            <p:ph idx="10" type="dt"/>
          </p:nvPr>
        </p:nvSpPr>
        <p:spPr>
          <a:xfrm>
            <a:off x="628650" y="6565257"/>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6" name="Google Shape;46;p24"/>
          <p:cNvSpPr txBox="1"/>
          <p:nvPr>
            <p:ph idx="11" type="ftr"/>
          </p:nvPr>
        </p:nvSpPr>
        <p:spPr>
          <a:xfrm>
            <a:off x="3028950" y="6565257"/>
            <a:ext cx="30861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7" name="Google Shape;47;p24"/>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48" name="Google Shape;48;p24"/>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9" name="Google Shape;49;p24"/>
          <p:cNvSpPr txBox="1"/>
          <p:nvPr>
            <p:ph idx="1" type="body"/>
          </p:nvPr>
        </p:nvSpPr>
        <p:spPr>
          <a:xfrm>
            <a:off x="234950" y="1227550"/>
            <a:ext cx="8674100" cy="4868449"/>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omparison">
  <p:cSld name="3_Comparison">
    <p:bg>
      <p:bgPr>
        <a:blipFill>
          <a:blip r:embed="rId2">
            <a:alphaModFix/>
          </a:blip>
          <a:stretch>
            <a:fillRect/>
          </a:stretch>
        </a:blipFill>
      </p:bgPr>
    </p:bg>
    <p:spTree>
      <p:nvGrpSpPr>
        <p:cNvPr id="50" name="Shape 50"/>
        <p:cNvGrpSpPr/>
        <p:nvPr/>
      </p:nvGrpSpPr>
      <p:grpSpPr>
        <a:xfrm>
          <a:off x="0" y="0"/>
          <a:ext cx="0" cy="0"/>
          <a:chOff x="0" y="0"/>
          <a:chExt cx="0" cy="0"/>
        </a:xfrm>
      </p:grpSpPr>
      <p:sp>
        <p:nvSpPr>
          <p:cNvPr id="51" name="Google Shape;51;p25"/>
          <p:cNvSpPr txBox="1"/>
          <p:nvPr>
            <p:ph idx="10" type="dt"/>
          </p:nvPr>
        </p:nvSpPr>
        <p:spPr>
          <a:xfrm>
            <a:off x="628650" y="6565257"/>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1200">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2" name="Google Shape;52;p25"/>
          <p:cNvSpPr txBox="1"/>
          <p:nvPr>
            <p:ph idx="11" type="ftr"/>
          </p:nvPr>
        </p:nvSpPr>
        <p:spPr>
          <a:xfrm>
            <a:off x="3028950" y="6565257"/>
            <a:ext cx="30861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sz="1200">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3" name="Google Shape;53;p25"/>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sz="1200">
                <a:solidFill>
                  <a:srgbClr val="C00000"/>
                </a:solidFill>
                <a:latin typeface="Lato"/>
                <a:ea typeface="Lato"/>
                <a:cs typeface="Lato"/>
                <a:sym typeface="Lato"/>
              </a:defRPr>
            </a:lvl1pPr>
            <a:lvl2pPr indent="0" lvl="1" marL="0" marR="0" rtl="0" algn="r">
              <a:spcBef>
                <a:spcPts val="0"/>
              </a:spcBef>
              <a:buNone/>
              <a:defRPr b="1" sz="1200">
                <a:solidFill>
                  <a:srgbClr val="C00000"/>
                </a:solidFill>
                <a:latin typeface="Lato"/>
                <a:ea typeface="Lato"/>
                <a:cs typeface="Lato"/>
                <a:sym typeface="Lato"/>
              </a:defRPr>
            </a:lvl2pPr>
            <a:lvl3pPr indent="0" lvl="2" marL="0" marR="0" rtl="0" algn="r">
              <a:spcBef>
                <a:spcPts val="0"/>
              </a:spcBef>
              <a:buNone/>
              <a:defRPr b="1" sz="1200">
                <a:solidFill>
                  <a:srgbClr val="C00000"/>
                </a:solidFill>
                <a:latin typeface="Lato"/>
                <a:ea typeface="Lato"/>
                <a:cs typeface="Lato"/>
                <a:sym typeface="Lato"/>
              </a:defRPr>
            </a:lvl3pPr>
            <a:lvl4pPr indent="0" lvl="3" marL="0" marR="0" rtl="0" algn="r">
              <a:spcBef>
                <a:spcPts val="0"/>
              </a:spcBef>
              <a:buNone/>
              <a:defRPr b="1" sz="1200">
                <a:solidFill>
                  <a:srgbClr val="C00000"/>
                </a:solidFill>
                <a:latin typeface="Lato"/>
                <a:ea typeface="Lato"/>
                <a:cs typeface="Lato"/>
                <a:sym typeface="Lato"/>
              </a:defRPr>
            </a:lvl4pPr>
            <a:lvl5pPr indent="0" lvl="4" marL="0" marR="0" rtl="0" algn="r">
              <a:spcBef>
                <a:spcPts val="0"/>
              </a:spcBef>
              <a:buNone/>
              <a:defRPr b="1" sz="1200">
                <a:solidFill>
                  <a:srgbClr val="C00000"/>
                </a:solidFill>
                <a:latin typeface="Lato"/>
                <a:ea typeface="Lato"/>
                <a:cs typeface="Lato"/>
                <a:sym typeface="Lato"/>
              </a:defRPr>
            </a:lvl5pPr>
            <a:lvl6pPr indent="0" lvl="5" marL="0" marR="0" rtl="0" algn="r">
              <a:spcBef>
                <a:spcPts val="0"/>
              </a:spcBef>
              <a:buNone/>
              <a:defRPr b="1" sz="1200">
                <a:solidFill>
                  <a:srgbClr val="C00000"/>
                </a:solidFill>
                <a:latin typeface="Lato"/>
                <a:ea typeface="Lato"/>
                <a:cs typeface="Lato"/>
                <a:sym typeface="Lato"/>
              </a:defRPr>
            </a:lvl6pPr>
            <a:lvl7pPr indent="0" lvl="6" marL="0" marR="0" rtl="0" algn="r">
              <a:spcBef>
                <a:spcPts val="0"/>
              </a:spcBef>
              <a:buNone/>
              <a:defRPr b="1" sz="1200">
                <a:solidFill>
                  <a:srgbClr val="C00000"/>
                </a:solidFill>
                <a:latin typeface="Lato"/>
                <a:ea typeface="Lato"/>
                <a:cs typeface="Lato"/>
                <a:sym typeface="Lato"/>
              </a:defRPr>
            </a:lvl7pPr>
            <a:lvl8pPr indent="0" lvl="7" marL="0" marR="0" rtl="0" algn="r">
              <a:spcBef>
                <a:spcPts val="0"/>
              </a:spcBef>
              <a:buNone/>
              <a:defRPr b="1" sz="1200">
                <a:solidFill>
                  <a:srgbClr val="C00000"/>
                </a:solidFill>
                <a:latin typeface="Lato"/>
                <a:ea typeface="Lato"/>
                <a:cs typeface="Lato"/>
                <a:sym typeface="Lato"/>
              </a:defRPr>
            </a:lvl8pPr>
            <a:lvl9pPr indent="0" lvl="8" marL="0" marR="0" rtl="0" algn="r">
              <a:spcBef>
                <a:spcPts val="0"/>
              </a:spcBef>
              <a:buNone/>
              <a:defRPr b="1" sz="1200">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54" name="Google Shape;54;p25"/>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5" name="Google Shape;55;p25"/>
          <p:cNvSpPr txBox="1"/>
          <p:nvPr>
            <p:ph idx="1" type="body"/>
          </p:nvPr>
        </p:nvSpPr>
        <p:spPr>
          <a:xfrm>
            <a:off x="234950" y="1164920"/>
            <a:ext cx="8674100" cy="4931079"/>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with Caption">
  <p:cSld name="1_Content with Caption">
    <p:bg>
      <p:bgPr>
        <a:blipFill>
          <a:blip r:embed="rId2">
            <a:alphaModFix/>
          </a:blip>
          <a:stretch>
            <a:fillRect/>
          </a:stretch>
        </a:blipFill>
      </p:bgPr>
    </p:bg>
    <p:spTree>
      <p:nvGrpSpPr>
        <p:cNvPr id="56" name="Shape 56"/>
        <p:cNvGrpSpPr/>
        <p:nvPr/>
      </p:nvGrpSpPr>
      <p:grpSpPr>
        <a:xfrm>
          <a:off x="0" y="0"/>
          <a:ext cx="0" cy="0"/>
          <a:chOff x="0" y="0"/>
          <a:chExt cx="0" cy="0"/>
        </a:xfrm>
      </p:grpSpPr>
      <p:sp>
        <p:nvSpPr>
          <p:cNvPr id="57" name="Google Shape;57;p26"/>
          <p:cNvSpPr txBox="1"/>
          <p:nvPr>
            <p:ph idx="10" type="dt"/>
          </p:nvPr>
        </p:nvSpPr>
        <p:spPr>
          <a:xfrm>
            <a:off x="628650" y="6565257"/>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1200">
                <a:solidFill>
                  <a:srgbClr val="F2F2F2"/>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 name="Google Shape;58;p26"/>
          <p:cNvSpPr txBox="1"/>
          <p:nvPr>
            <p:ph idx="11" type="ftr"/>
          </p:nvPr>
        </p:nvSpPr>
        <p:spPr>
          <a:xfrm>
            <a:off x="3028950" y="6565257"/>
            <a:ext cx="30861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sz="1200">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9" name="Google Shape;59;p26"/>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sz="1200">
                <a:solidFill>
                  <a:srgbClr val="C00000"/>
                </a:solidFill>
                <a:latin typeface="Lato"/>
                <a:ea typeface="Lato"/>
                <a:cs typeface="Lato"/>
                <a:sym typeface="Lato"/>
              </a:defRPr>
            </a:lvl1pPr>
            <a:lvl2pPr indent="0" lvl="1" marL="0" marR="0" rtl="0" algn="r">
              <a:spcBef>
                <a:spcPts val="0"/>
              </a:spcBef>
              <a:buNone/>
              <a:defRPr b="1" sz="1200">
                <a:solidFill>
                  <a:srgbClr val="C00000"/>
                </a:solidFill>
                <a:latin typeface="Lato"/>
                <a:ea typeface="Lato"/>
                <a:cs typeface="Lato"/>
                <a:sym typeface="Lato"/>
              </a:defRPr>
            </a:lvl2pPr>
            <a:lvl3pPr indent="0" lvl="2" marL="0" marR="0" rtl="0" algn="r">
              <a:spcBef>
                <a:spcPts val="0"/>
              </a:spcBef>
              <a:buNone/>
              <a:defRPr b="1" sz="1200">
                <a:solidFill>
                  <a:srgbClr val="C00000"/>
                </a:solidFill>
                <a:latin typeface="Lato"/>
                <a:ea typeface="Lato"/>
                <a:cs typeface="Lato"/>
                <a:sym typeface="Lato"/>
              </a:defRPr>
            </a:lvl3pPr>
            <a:lvl4pPr indent="0" lvl="3" marL="0" marR="0" rtl="0" algn="r">
              <a:spcBef>
                <a:spcPts val="0"/>
              </a:spcBef>
              <a:buNone/>
              <a:defRPr b="1" sz="1200">
                <a:solidFill>
                  <a:srgbClr val="C00000"/>
                </a:solidFill>
                <a:latin typeface="Lato"/>
                <a:ea typeface="Lato"/>
                <a:cs typeface="Lato"/>
                <a:sym typeface="Lato"/>
              </a:defRPr>
            </a:lvl4pPr>
            <a:lvl5pPr indent="0" lvl="4" marL="0" marR="0" rtl="0" algn="r">
              <a:spcBef>
                <a:spcPts val="0"/>
              </a:spcBef>
              <a:buNone/>
              <a:defRPr b="1" sz="1200">
                <a:solidFill>
                  <a:srgbClr val="C00000"/>
                </a:solidFill>
                <a:latin typeface="Lato"/>
                <a:ea typeface="Lato"/>
                <a:cs typeface="Lato"/>
                <a:sym typeface="Lato"/>
              </a:defRPr>
            </a:lvl5pPr>
            <a:lvl6pPr indent="0" lvl="5" marL="0" marR="0" rtl="0" algn="r">
              <a:spcBef>
                <a:spcPts val="0"/>
              </a:spcBef>
              <a:buNone/>
              <a:defRPr b="1" sz="1200">
                <a:solidFill>
                  <a:srgbClr val="C00000"/>
                </a:solidFill>
                <a:latin typeface="Lato"/>
                <a:ea typeface="Lato"/>
                <a:cs typeface="Lato"/>
                <a:sym typeface="Lato"/>
              </a:defRPr>
            </a:lvl6pPr>
            <a:lvl7pPr indent="0" lvl="6" marL="0" marR="0" rtl="0" algn="r">
              <a:spcBef>
                <a:spcPts val="0"/>
              </a:spcBef>
              <a:buNone/>
              <a:defRPr b="1" sz="1200">
                <a:solidFill>
                  <a:srgbClr val="C00000"/>
                </a:solidFill>
                <a:latin typeface="Lato"/>
                <a:ea typeface="Lato"/>
                <a:cs typeface="Lato"/>
                <a:sym typeface="Lato"/>
              </a:defRPr>
            </a:lvl7pPr>
            <a:lvl8pPr indent="0" lvl="7" marL="0" marR="0" rtl="0" algn="r">
              <a:spcBef>
                <a:spcPts val="0"/>
              </a:spcBef>
              <a:buNone/>
              <a:defRPr b="1" sz="1200">
                <a:solidFill>
                  <a:srgbClr val="C00000"/>
                </a:solidFill>
                <a:latin typeface="Lato"/>
                <a:ea typeface="Lato"/>
                <a:cs typeface="Lato"/>
                <a:sym typeface="Lato"/>
              </a:defRPr>
            </a:lvl8pPr>
            <a:lvl9pPr indent="0" lvl="8" marL="0" marR="0" rtl="0" algn="r">
              <a:spcBef>
                <a:spcPts val="0"/>
              </a:spcBef>
              <a:buNone/>
              <a:defRPr b="1" sz="1200">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bg>
      <p:bgPr>
        <a:blipFill>
          <a:blip r:embed="rId2">
            <a:alphaModFix/>
          </a:blip>
          <a:stretch>
            <a:fillRect/>
          </a:stretch>
        </a:blipFill>
      </p:bgPr>
    </p:bg>
    <p:spTree>
      <p:nvGrpSpPr>
        <p:cNvPr id="60" name="Shape 60"/>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blipFill>
          <a:blip r:embed="rId2">
            <a:alphaModFix/>
          </a:blip>
          <a:stretch>
            <a:fillRect/>
          </a:stretch>
        </a:blipFill>
      </p:bgPr>
    </p:bg>
    <p:spTree>
      <p:nvGrpSpPr>
        <p:cNvPr id="61" name="Shape 61"/>
        <p:cNvGrpSpPr/>
        <p:nvPr/>
      </p:nvGrpSpPr>
      <p:grpSpPr>
        <a:xfrm>
          <a:off x="0" y="0"/>
          <a:ext cx="0" cy="0"/>
          <a:chOff x="0" y="0"/>
          <a:chExt cx="0" cy="0"/>
        </a:xfrm>
      </p:grpSpPr>
      <p:sp>
        <p:nvSpPr>
          <p:cNvPr id="62" name="Google Shape;62;p28"/>
          <p:cNvSpPr txBox="1"/>
          <p:nvPr>
            <p:ph type="title"/>
          </p:nvPr>
        </p:nvSpPr>
        <p:spPr>
          <a:xfrm>
            <a:off x="2380488" y="2365248"/>
            <a:ext cx="4383024" cy="2127504"/>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0"/>
              </a:spcBef>
              <a:spcAft>
                <a:spcPts val="0"/>
              </a:spcAft>
              <a:buClr>
                <a:schemeClr val="lt1"/>
              </a:buClr>
              <a:buSzPts val="4800"/>
              <a:buFont typeface="Lato"/>
              <a:buNone/>
              <a:defRPr b="1" i="0" sz="4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bg>
      <p:bgPr>
        <a:blipFill>
          <a:blip r:embed="rId2">
            <a:alphaModFix/>
          </a:blip>
          <a:stretch>
            <a:fillRect/>
          </a:stretch>
        </a:blipFill>
      </p:bgPr>
    </p:bg>
    <p:spTree>
      <p:nvGrpSpPr>
        <p:cNvPr id="63" name="Shape 63"/>
        <p:cNvGrpSpPr/>
        <p:nvPr/>
      </p:nvGrpSpPr>
      <p:grpSpPr>
        <a:xfrm>
          <a:off x="0" y="0"/>
          <a:ext cx="0" cy="0"/>
          <a:chOff x="0" y="0"/>
          <a:chExt cx="0" cy="0"/>
        </a:xfrm>
      </p:grpSpPr>
      <p:sp>
        <p:nvSpPr>
          <p:cNvPr id="64" name="Google Shape;64;p29"/>
          <p:cNvSpPr txBox="1"/>
          <p:nvPr>
            <p:ph idx="10" type="dt"/>
          </p:nvPr>
        </p:nvSpPr>
        <p:spPr>
          <a:xfrm>
            <a:off x="628650" y="6565257"/>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1200">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5" name="Google Shape;65;p29"/>
          <p:cNvSpPr txBox="1"/>
          <p:nvPr>
            <p:ph idx="11" type="ftr"/>
          </p:nvPr>
        </p:nvSpPr>
        <p:spPr>
          <a:xfrm>
            <a:off x="3028950" y="6565257"/>
            <a:ext cx="30861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sz="1200">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6" name="Google Shape;66;p29"/>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sz="1200">
                <a:solidFill>
                  <a:srgbClr val="C00000"/>
                </a:solidFill>
                <a:latin typeface="Lato"/>
                <a:ea typeface="Lato"/>
                <a:cs typeface="Lato"/>
                <a:sym typeface="Lato"/>
              </a:defRPr>
            </a:lvl1pPr>
            <a:lvl2pPr indent="0" lvl="1" marL="0" marR="0" rtl="0" algn="r">
              <a:spcBef>
                <a:spcPts val="0"/>
              </a:spcBef>
              <a:buNone/>
              <a:defRPr b="1" sz="1200">
                <a:solidFill>
                  <a:srgbClr val="C00000"/>
                </a:solidFill>
                <a:latin typeface="Lato"/>
                <a:ea typeface="Lato"/>
                <a:cs typeface="Lato"/>
                <a:sym typeface="Lato"/>
              </a:defRPr>
            </a:lvl2pPr>
            <a:lvl3pPr indent="0" lvl="2" marL="0" marR="0" rtl="0" algn="r">
              <a:spcBef>
                <a:spcPts val="0"/>
              </a:spcBef>
              <a:buNone/>
              <a:defRPr b="1" sz="1200">
                <a:solidFill>
                  <a:srgbClr val="C00000"/>
                </a:solidFill>
                <a:latin typeface="Lato"/>
                <a:ea typeface="Lato"/>
                <a:cs typeface="Lato"/>
                <a:sym typeface="Lato"/>
              </a:defRPr>
            </a:lvl3pPr>
            <a:lvl4pPr indent="0" lvl="3" marL="0" marR="0" rtl="0" algn="r">
              <a:spcBef>
                <a:spcPts val="0"/>
              </a:spcBef>
              <a:buNone/>
              <a:defRPr b="1" sz="1200">
                <a:solidFill>
                  <a:srgbClr val="C00000"/>
                </a:solidFill>
                <a:latin typeface="Lato"/>
                <a:ea typeface="Lato"/>
                <a:cs typeface="Lato"/>
                <a:sym typeface="Lato"/>
              </a:defRPr>
            </a:lvl4pPr>
            <a:lvl5pPr indent="0" lvl="4" marL="0" marR="0" rtl="0" algn="r">
              <a:spcBef>
                <a:spcPts val="0"/>
              </a:spcBef>
              <a:buNone/>
              <a:defRPr b="1" sz="1200">
                <a:solidFill>
                  <a:srgbClr val="C00000"/>
                </a:solidFill>
                <a:latin typeface="Lato"/>
                <a:ea typeface="Lato"/>
                <a:cs typeface="Lato"/>
                <a:sym typeface="Lato"/>
              </a:defRPr>
            </a:lvl5pPr>
            <a:lvl6pPr indent="0" lvl="5" marL="0" marR="0" rtl="0" algn="r">
              <a:spcBef>
                <a:spcPts val="0"/>
              </a:spcBef>
              <a:buNone/>
              <a:defRPr b="1" sz="1200">
                <a:solidFill>
                  <a:srgbClr val="C00000"/>
                </a:solidFill>
                <a:latin typeface="Lato"/>
                <a:ea typeface="Lato"/>
                <a:cs typeface="Lato"/>
                <a:sym typeface="Lato"/>
              </a:defRPr>
            </a:lvl6pPr>
            <a:lvl7pPr indent="0" lvl="6" marL="0" marR="0" rtl="0" algn="r">
              <a:spcBef>
                <a:spcPts val="0"/>
              </a:spcBef>
              <a:buNone/>
              <a:defRPr b="1" sz="1200">
                <a:solidFill>
                  <a:srgbClr val="C00000"/>
                </a:solidFill>
                <a:latin typeface="Lato"/>
                <a:ea typeface="Lato"/>
                <a:cs typeface="Lato"/>
                <a:sym typeface="Lato"/>
              </a:defRPr>
            </a:lvl7pPr>
            <a:lvl8pPr indent="0" lvl="7" marL="0" marR="0" rtl="0" algn="r">
              <a:spcBef>
                <a:spcPts val="0"/>
              </a:spcBef>
              <a:buNone/>
              <a:defRPr b="1" sz="1200">
                <a:solidFill>
                  <a:srgbClr val="C00000"/>
                </a:solidFill>
                <a:latin typeface="Lato"/>
                <a:ea typeface="Lato"/>
                <a:cs typeface="Lato"/>
                <a:sym typeface="Lato"/>
              </a:defRPr>
            </a:lvl8pPr>
            <a:lvl9pPr indent="0" lvl="8" marL="0" marR="0" rtl="0" algn="r">
              <a:spcBef>
                <a:spcPts val="0"/>
              </a:spcBef>
              <a:buNone/>
              <a:defRPr b="1" sz="1200">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67" name="Google Shape;67;p29"/>
          <p:cNvSpPr txBox="1"/>
          <p:nvPr>
            <p:ph idx="1" type="body"/>
          </p:nvPr>
        </p:nvSpPr>
        <p:spPr>
          <a:xfrm>
            <a:off x="528828" y="1423289"/>
            <a:ext cx="38862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8" name="Google Shape;68;p29"/>
          <p:cNvSpPr txBox="1"/>
          <p:nvPr>
            <p:ph idx="2" type="body"/>
          </p:nvPr>
        </p:nvSpPr>
        <p:spPr>
          <a:xfrm>
            <a:off x="4572000" y="1423289"/>
            <a:ext cx="38862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9" name="Google Shape;69;p29"/>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bg>
      <p:bgPr>
        <a:blipFill>
          <a:blip r:embed="rId2">
            <a:alphaModFix/>
          </a:blip>
          <a:stretch>
            <a:fillRect/>
          </a:stretch>
        </a:blipFill>
      </p:bgPr>
    </p:bg>
    <p:spTree>
      <p:nvGrpSpPr>
        <p:cNvPr id="70" name="Shape 70"/>
        <p:cNvGrpSpPr/>
        <p:nvPr/>
      </p:nvGrpSpPr>
      <p:grpSpPr>
        <a:xfrm>
          <a:off x="0" y="0"/>
          <a:ext cx="0" cy="0"/>
          <a:chOff x="0" y="0"/>
          <a:chExt cx="0" cy="0"/>
        </a:xfrm>
      </p:grpSpPr>
      <p:sp>
        <p:nvSpPr>
          <p:cNvPr id="71" name="Google Shape;71;p30"/>
          <p:cNvSpPr txBox="1"/>
          <p:nvPr>
            <p:ph type="title"/>
          </p:nvPr>
        </p:nvSpPr>
        <p:spPr>
          <a:xfrm>
            <a:off x="3511295" y="224917"/>
            <a:ext cx="5397627" cy="451739"/>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2800"/>
              <a:buFont typeface="Lato"/>
              <a:buNone/>
              <a:defRPr b="1" i="0" sz="2800" u="none" cap="none" strike="noStrike">
                <a:solidFill>
                  <a:schemeClr val="dk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2" name="Google Shape;72;p30"/>
          <p:cNvSpPr txBox="1"/>
          <p:nvPr>
            <p:ph idx="1" type="body"/>
          </p:nvPr>
        </p:nvSpPr>
        <p:spPr>
          <a:xfrm>
            <a:off x="3524251" y="1011238"/>
            <a:ext cx="5384672" cy="5529262"/>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3" name="Google Shape;73;p30"/>
          <p:cNvSpPr txBox="1"/>
          <p:nvPr>
            <p:ph idx="10" type="dt"/>
          </p:nvPr>
        </p:nvSpPr>
        <p:spPr>
          <a:xfrm>
            <a:off x="628650" y="6565257"/>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1200">
                <a:solidFill>
                  <a:srgbClr val="F2F2F2"/>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4" name="Google Shape;74;p30"/>
          <p:cNvSpPr txBox="1"/>
          <p:nvPr>
            <p:ph idx="11" type="ftr"/>
          </p:nvPr>
        </p:nvSpPr>
        <p:spPr>
          <a:xfrm>
            <a:off x="3028950" y="6565257"/>
            <a:ext cx="30861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sz="1200">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5" name="Google Shape;75;p30"/>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sz="1200">
                <a:solidFill>
                  <a:srgbClr val="C00000"/>
                </a:solidFill>
                <a:latin typeface="Lato"/>
                <a:ea typeface="Lato"/>
                <a:cs typeface="Lato"/>
                <a:sym typeface="Lato"/>
              </a:defRPr>
            </a:lvl1pPr>
            <a:lvl2pPr indent="0" lvl="1" marL="0" marR="0" rtl="0" algn="r">
              <a:spcBef>
                <a:spcPts val="0"/>
              </a:spcBef>
              <a:buNone/>
              <a:defRPr b="1" sz="1200">
                <a:solidFill>
                  <a:srgbClr val="C00000"/>
                </a:solidFill>
                <a:latin typeface="Lato"/>
                <a:ea typeface="Lato"/>
                <a:cs typeface="Lato"/>
                <a:sym typeface="Lato"/>
              </a:defRPr>
            </a:lvl2pPr>
            <a:lvl3pPr indent="0" lvl="2" marL="0" marR="0" rtl="0" algn="r">
              <a:spcBef>
                <a:spcPts val="0"/>
              </a:spcBef>
              <a:buNone/>
              <a:defRPr b="1" sz="1200">
                <a:solidFill>
                  <a:srgbClr val="C00000"/>
                </a:solidFill>
                <a:latin typeface="Lato"/>
                <a:ea typeface="Lato"/>
                <a:cs typeface="Lato"/>
                <a:sym typeface="Lato"/>
              </a:defRPr>
            </a:lvl3pPr>
            <a:lvl4pPr indent="0" lvl="3" marL="0" marR="0" rtl="0" algn="r">
              <a:spcBef>
                <a:spcPts val="0"/>
              </a:spcBef>
              <a:buNone/>
              <a:defRPr b="1" sz="1200">
                <a:solidFill>
                  <a:srgbClr val="C00000"/>
                </a:solidFill>
                <a:latin typeface="Lato"/>
                <a:ea typeface="Lato"/>
                <a:cs typeface="Lato"/>
                <a:sym typeface="Lato"/>
              </a:defRPr>
            </a:lvl4pPr>
            <a:lvl5pPr indent="0" lvl="4" marL="0" marR="0" rtl="0" algn="r">
              <a:spcBef>
                <a:spcPts val="0"/>
              </a:spcBef>
              <a:buNone/>
              <a:defRPr b="1" sz="1200">
                <a:solidFill>
                  <a:srgbClr val="C00000"/>
                </a:solidFill>
                <a:latin typeface="Lato"/>
                <a:ea typeface="Lato"/>
                <a:cs typeface="Lato"/>
                <a:sym typeface="Lato"/>
              </a:defRPr>
            </a:lvl5pPr>
            <a:lvl6pPr indent="0" lvl="5" marL="0" marR="0" rtl="0" algn="r">
              <a:spcBef>
                <a:spcPts val="0"/>
              </a:spcBef>
              <a:buNone/>
              <a:defRPr b="1" sz="1200">
                <a:solidFill>
                  <a:srgbClr val="C00000"/>
                </a:solidFill>
                <a:latin typeface="Lato"/>
                <a:ea typeface="Lato"/>
                <a:cs typeface="Lato"/>
                <a:sym typeface="Lato"/>
              </a:defRPr>
            </a:lvl6pPr>
            <a:lvl7pPr indent="0" lvl="6" marL="0" marR="0" rtl="0" algn="r">
              <a:spcBef>
                <a:spcPts val="0"/>
              </a:spcBef>
              <a:buNone/>
              <a:defRPr b="1" sz="1200">
                <a:solidFill>
                  <a:srgbClr val="C00000"/>
                </a:solidFill>
                <a:latin typeface="Lato"/>
                <a:ea typeface="Lato"/>
                <a:cs typeface="Lato"/>
                <a:sym typeface="Lato"/>
              </a:defRPr>
            </a:lvl7pPr>
            <a:lvl8pPr indent="0" lvl="7" marL="0" marR="0" rtl="0" algn="r">
              <a:spcBef>
                <a:spcPts val="0"/>
              </a:spcBef>
              <a:buNone/>
              <a:defRPr b="1" sz="1200">
                <a:solidFill>
                  <a:srgbClr val="C00000"/>
                </a:solidFill>
                <a:latin typeface="Lato"/>
                <a:ea typeface="Lato"/>
                <a:cs typeface="Lato"/>
                <a:sym typeface="Lato"/>
              </a:defRPr>
            </a:lvl8pPr>
            <a:lvl9pPr indent="0" lvl="8" marL="0" marR="0" rtl="0" algn="r">
              <a:spcBef>
                <a:spcPts val="0"/>
              </a:spcBef>
              <a:buNone/>
              <a:defRPr b="1" sz="1200">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 Id="rId3"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id="80" name="Google Shape;80;p1"/>
          <p:cNvPicPr preferRelativeResize="0"/>
          <p:nvPr/>
        </p:nvPicPr>
        <p:blipFill rotWithShape="1">
          <a:blip r:embed="rId3">
            <a:alphaModFix/>
          </a:blip>
          <a:srcRect b="0" l="0" r="0" t="0"/>
          <a:stretch/>
        </p:blipFill>
        <p:spPr>
          <a:xfrm>
            <a:off x="413012" y="398419"/>
            <a:ext cx="2037225" cy="611594"/>
          </a:xfrm>
          <a:prstGeom prst="rect">
            <a:avLst/>
          </a:prstGeom>
          <a:noFill/>
          <a:ln>
            <a:noFill/>
          </a:ln>
        </p:spPr>
      </p:pic>
      <p:sp>
        <p:nvSpPr>
          <p:cNvPr id="81" name="Google Shape;81;p1"/>
          <p:cNvSpPr txBox="1"/>
          <p:nvPr/>
        </p:nvSpPr>
        <p:spPr>
          <a:xfrm>
            <a:off x="0" y="2622972"/>
            <a:ext cx="7342482" cy="848792"/>
          </a:xfrm>
          <a:prstGeom prst="rect">
            <a:avLst/>
          </a:prstGeom>
          <a:noFill/>
          <a:ln>
            <a:noFill/>
          </a:ln>
        </p:spPr>
        <p:txBody>
          <a:bodyPr anchorCtr="0" anchor="t" bIns="45700" lIns="91425" spcFirstLastPara="1" rIns="91425" wrap="square" tIns="45700">
            <a:noAutofit/>
          </a:bodyPr>
          <a:lstStyle/>
          <a:p>
            <a:pPr marL="0" indent="0" algn="l">
              <a:lnSpc>
                <a:spcPct val="95000"/>
              </a:lnSpc>
              <a:spcBef>
                <a:spcPts val="0"/>
              </a:spcBef>
              <a:buNone/>
            </a:pPr>
            <a:r>
              <a:rPr lang="vi-VN" sz="3600" b="1" i="0" dirty="0">
                <a:solidFill>
                  <a:srgbClr val="262626"/>
                </a:solidFill>
                <a:latin typeface="Times New Roman"/>
                <a:ea typeface="Times New Roman"/>
                <a:cs typeface="Times New Roman"/>
                <a:sym typeface="Times New Roman"/>
              </a:rPr>
              <a:t xml:space="preserve">ĐỒ ÁN MÔN HỌC IT5427</a:t>
            </a:r>
          </a:p>
        </p:txBody>
      </p:sp>
      <p:sp>
        <p:nvSpPr>
          <p:cNvPr id="82" name="Google Shape;82;p1"/>
          <p:cNvSpPr txBox="1"/>
          <p:nvPr/>
        </p:nvSpPr>
        <p:spPr>
          <a:xfrm>
            <a:off x="0" y="3246120"/>
            <a:ext cx="5852160" cy="2651760"/>
          </a:xfrm>
          <a:prstGeom prst="rect">
            <a:avLst/>
          </a:prstGeom>
          <a:noFill/>
          <a:ln>
            <a:noFill/>
          </a:ln>
        </p:spPr>
        <p:txBody>
          <a:bodyPr anchorCtr="0" anchor="t" bIns="45700" lIns="91425" spcFirstLastPara="1" rIns="91425" wrap="square" tIns="45700">
            <a:noAutofit/>
          </a:bodyPr>
          <a:lstStyle/>
          <a:p>
            <a:pPr marL="0" indent="0" algn="l">
              <a:lnSpc>
                <a:spcPct val="95000"/>
              </a:lnSpc>
              <a:spcBef>
                <a:spcPts val="0"/>
              </a:spcBef>
              <a:buNone/>
            </a:pPr>
            <a:r>
              <a:rPr lang="vi-VN" sz="2000" b="1" i="0" dirty="0">
                <a:solidFill>
                  <a:srgbClr val="C00000"/>
                </a:solidFill>
                <a:latin typeface="Times New Roman"/>
                <a:ea typeface="Times New Roman"/>
                <a:cs typeface="Times New Roman"/>
                <a:sym typeface="Times New Roman"/>
              </a:rPr>
              <a:t xml:space="preserve">Hệ thống tích hợp dữ liệu và phân tích thống kê giao thông đô thị quy mô lớn</a:t>
            </a:r>
          </a:p>
          <a:p>
            <a:pPr marL="0" indent="0" algn="l">
              <a:lnSpc>
                <a:spcPct val="95000"/>
              </a:lnSpc>
              <a:spcBef>
                <a:spcPts val="300"/>
              </a:spcBef>
              <a:buNone/>
            </a:pPr>
            <a:r>
              <a:rPr lang="vi-VN" sz="1600" b="0" i="1" dirty="0">
                <a:solidFill>
                  <a:srgbClr val="262626"/>
                </a:solidFill>
                <a:latin typeface="Times New Roman"/>
                <a:ea typeface="Times New Roman"/>
                <a:cs typeface="Times New Roman"/>
                <a:sym typeface="Times New Roman"/>
              </a:rPr>
              <a:t xml:space="preserve">Big Data Integration and Statistical Analysis System for Urban Traffic Data</a:t>
            </a:r>
          </a:p>
          <a:p>
            <a:pPr marL="0" indent="0" algn="l">
              <a:lnSpc>
                <a:spcPct val="95000"/>
              </a:lnSpc>
              <a:spcBef>
                <a:spcPts val="1400"/>
              </a:spcBef>
              <a:buNone/>
            </a:pPr>
            <a:r>
              <a:rPr lang="vi-VN" sz="1600" b="0" i="0" dirty="0">
                <a:solidFill>
                  <a:srgbClr val="262626"/>
                </a:solidFill>
                <a:latin typeface="Times New Roman"/>
                <a:ea typeface="Times New Roman"/>
                <a:cs typeface="Times New Roman"/>
                <a:sym typeface="Times New Roman"/>
              </a:rPr>
              <a:t xml:space="preserve">Học phần: IT5427 – Tích hợp và Xử lý Dữ liệu lớn</a:t>
            </a:r>
          </a:p>
          <a:p>
            <a:pPr marL="0" indent="0" algn="l">
              <a:lnSpc>
                <a:spcPct val="95000"/>
              </a:lnSpc>
              <a:spcBef>
                <a:spcPts val="300"/>
              </a:spcBef>
              <a:buNone/>
            </a:pPr>
            <a:r>
              <a:rPr lang="vi-VN" sz="1600" b="0" i="0" dirty="0">
                <a:solidFill>
                  <a:srgbClr val="262626"/>
                </a:solidFill>
                <a:latin typeface="Times New Roman"/>
                <a:ea typeface="Times New Roman"/>
                <a:cs typeface="Times New Roman"/>
                <a:sym typeface="Times New Roman"/>
              </a:rPr>
              <a:t xml:space="preserve">Giảng viên hướng dẫn: TS. Vũ Tuyết Trinh</a:t>
            </a:r>
          </a:p>
          <a:p>
            <a:pPr marL="0" indent="0" algn="l">
              <a:lnSpc>
                <a:spcPct val="95000"/>
              </a:lnSpc>
              <a:spcBef>
                <a:spcPts val="300"/>
              </a:spcBef>
              <a:buNone/>
            </a:pPr>
            <a:r>
              <a:rPr lang="vi-VN" sz="1600" b="0" i="0" dirty="0">
                <a:solidFill>
                  <a:srgbClr val="262626"/>
                </a:solidFill>
                <a:latin typeface="Times New Roman"/>
                <a:ea typeface="Times New Roman"/>
                <a:cs typeface="Times New Roman"/>
                <a:sym typeface="Times New Roman"/>
              </a:rPr>
              <a:t xml:space="preserve">Nhóm: ……   |   Thành viên: ……………………………………</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3"/>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Font typeface="Lato"/>
              <a:buNone/>
            </a:pPr>
            <a:r>
              <a:rPr lang="en-US" sz="2800">
                <a:solidFill>
                  <a:schemeClr val="dk1"/>
                </a:solidFill>
                <a:latin typeface="Times New Roman"/>
                <a:ea typeface="Times New Roman"/>
                <a:cs typeface="Times New Roman"/>
                <a:sym typeface="Times New Roman"/>
              </a:rPr>
              <a:t>Bài toán và kiến trúc hệ thống</a:t>
            </a:r>
            <a:endParaRPr>
              <a:latin typeface="Times New Roman"/>
              <a:ea typeface="Times New Roman"/>
              <a:cs typeface="Times New Roman"/>
              <a:sym typeface="Times New Roman"/>
            </a:endParaRPr>
          </a:p>
        </p:txBody>
      </p:sp>
      <p:sp>
        <p:nvSpPr>
          <p:cNvPr id="94" name="Google Shape;94;p3"/>
          <p:cNvSpPr txBox="1"/>
          <p:nvPr>
            <p:ph idx="1" type="body"/>
          </p:nvPr>
        </p:nvSpPr>
        <p:spPr>
          <a:xfrm>
            <a:off x="228600" y="914400"/>
            <a:ext cx="3611880" cy="5120640"/>
          </a:xfrm>
          <a:prstGeom prst="rect">
            <a:avLst/>
          </a:prstGeom>
          <a:noFill/>
          <a:ln>
            <a:noFill/>
          </a:ln>
        </p:spPr>
        <p:txBody>
          <a:bodyPr anchorCtr="0" anchor="t" bIns="45700" lIns="91425" spcFirstLastPara="1" rIns="91425" wrap="square" tIns="45700">
            <a:noAutofit/>
          </a:bodyPr>
          <a:lstStyle/>
          <a:p>
            <a:pPr marL="285750" indent="-285750" algn="l">
              <a:lnSpc>
                <a:spcPct val="95000"/>
              </a:lnSpc>
              <a:spcBef>
                <a:spcPts val="0"/>
              </a:spcBef>
              <a:buClr>
                <a:srgbClr val="C00000"/>
              </a:buClr>
              <a:buSzPct val="100000"/>
              <a:buFont typeface="Arial"/>
              <a:buChar char="•"/>
            </a:pPr>
            <a:r>
              <a:rPr lang="vi-VN" sz="1700" b="0" i="0" dirty="0">
                <a:solidFill>
                  <a:srgbClr val="262626"/>
                </a:solidFill>
                <a:latin typeface="Times New Roman"/>
                <a:ea typeface="Times New Roman"/>
                <a:cs typeface="Times New Roman"/>
                <a:sym typeface="Times New Roman"/>
              </a:rPr>
              <a:t xml:space="preserve">Giờ nào, đường nào tắc nhất? Thời tiết ảnh hưởng bao nhiêu? Ngày nào giao thông khác thường?</a:t>
            </a:r>
          </a:p>
          <a:p>
            <a:pPr marL="285750" indent="-285750" algn="l">
              <a:lnSpc>
                <a:spcPct val="95000"/>
              </a:lnSpc>
              <a:spcBef>
                <a:spcPts val="900"/>
              </a:spcBef>
              <a:buClr>
                <a:srgbClr val="C00000"/>
              </a:buClr>
              <a:buSzPct val="100000"/>
              <a:buFont typeface="Arial"/>
              <a:buChar char="•"/>
            </a:pPr>
            <a:r>
              <a:rPr lang="vi-VN" sz="1700" b="0" i="0" dirty="0">
                <a:solidFill>
                  <a:srgbClr val="262626"/>
                </a:solidFill>
                <a:latin typeface="Times New Roman"/>
                <a:ea typeface="Times New Roman"/>
                <a:cs typeface="Times New Roman"/>
                <a:sym typeface="Times New Roman"/>
              </a:rPr>
              <a:t xml:space="preserve">Không nguồn nào một mình trả lời được → phải </a:t>
            </a:r>
            <a:r>
              <a:rPr lang="vi-VN" sz="1700" b="1" i="0" dirty="0">
                <a:solidFill>
                  <a:srgbClr val="262626"/>
                </a:solidFill>
                <a:latin typeface="Times New Roman"/>
                <a:ea typeface="Times New Roman"/>
                <a:cs typeface="Times New Roman"/>
                <a:sym typeface="Times New Roman"/>
              </a:rPr>
              <a:t xml:space="preserve">tích hợp</a:t>
            </a:r>
          </a:p>
          <a:p>
            <a:pPr marL="285750" indent="-285750" algn="l">
              <a:lnSpc>
                <a:spcPct val="95000"/>
              </a:lnSpc>
              <a:spcBef>
                <a:spcPts val="900"/>
              </a:spcBef>
              <a:buClr>
                <a:srgbClr val="C00000"/>
              </a:buClr>
              <a:buSzPct val="100000"/>
              <a:buFont typeface="Arial"/>
              <a:buChar char="•"/>
            </a:pPr>
            <a:r>
              <a:rPr lang="vi-VN" sz="1700" b="0" i="0" dirty="0">
                <a:solidFill>
                  <a:srgbClr val="262626"/>
                </a:solidFill>
                <a:latin typeface="Times New Roman"/>
                <a:ea typeface="Times New Roman"/>
                <a:cs typeface="Times New Roman"/>
                <a:sym typeface="Times New Roman"/>
              </a:rPr>
              <a:t xml:space="preserve">Theo Hướng 1 của học phần: tích hợp → xử lý → phân tích → dashboard</a:t>
            </a:r>
          </a:p>
          <a:p>
            <a:pPr marL="285750" indent="-285750" algn="l">
              <a:lnSpc>
                <a:spcPct val="95000"/>
              </a:lnSpc>
              <a:spcBef>
                <a:spcPts val="900"/>
              </a:spcBef>
              <a:buClr>
                <a:srgbClr val="C00000"/>
              </a:buClr>
              <a:buSzPct val="100000"/>
              <a:buFont typeface="Arial"/>
              <a:buChar char="•"/>
            </a:pPr>
            <a:r>
              <a:rPr lang="vi-VN" sz="1700" b="0" i="0" dirty="0">
                <a:solidFill>
                  <a:srgbClr val="262626"/>
                </a:solidFill>
                <a:latin typeface="Times New Roman"/>
                <a:ea typeface="Times New Roman"/>
                <a:cs typeface="Times New Roman"/>
                <a:sym typeface="Times New Roman"/>
              </a:rPr>
              <a:t xml:space="preserve">Phạm vi: cả năm </a:t>
            </a:r>
            <a:r>
              <a:rPr lang="vi-VN" sz="1700" b="1" i="0" dirty="0">
                <a:solidFill>
                  <a:srgbClr val="262626"/>
                </a:solidFill>
                <a:latin typeface="Times New Roman"/>
                <a:ea typeface="Times New Roman"/>
                <a:cs typeface="Times New Roman"/>
                <a:sym typeface="Times New Roman"/>
              </a:rPr>
              <a:t xml:space="preserve">2024</a:t>
            </a:r>
            <a:r>
              <a:rPr lang="vi-VN" sz="1700" b="0" i="0" dirty="0">
                <a:solidFill>
                  <a:srgbClr val="262626"/>
                </a:solidFill>
                <a:latin typeface="Times New Roman"/>
                <a:ea typeface="Times New Roman"/>
                <a:cs typeface="Times New Roman"/>
                <a:sym typeface="Times New Roman"/>
              </a:rPr>
              <a:t xml:space="preserve">, 5 quận New York</a:t>
            </a:r>
          </a:p>
          <a:p>
            <a:pPr marL="285750" indent="-285750" algn="l">
              <a:lnSpc>
                <a:spcPct val="95000"/>
              </a:lnSpc>
              <a:spcBef>
                <a:spcPts val="900"/>
              </a:spcBef>
              <a:buClr>
                <a:srgbClr val="C00000"/>
              </a:buClr>
              <a:buSzPct val="100000"/>
              <a:buFont typeface="Arial"/>
              <a:buChar char="•"/>
            </a:pPr>
            <a:r>
              <a:rPr lang="vi-VN" sz="1700" b="0" i="0" dirty="0">
                <a:solidFill>
                  <a:srgbClr val="262626"/>
                </a:solidFill>
                <a:latin typeface="Times New Roman"/>
                <a:ea typeface="Times New Roman"/>
                <a:cs typeface="Times New Roman"/>
                <a:sym typeface="Times New Roman"/>
              </a:rPr>
              <a:t xml:space="preserve">3 phase giao tiếp qua một </a:t>
            </a:r>
            <a:r>
              <a:rPr lang="vi-VN" sz="1700" b="1" i="0" dirty="0">
                <a:solidFill>
                  <a:srgbClr val="262626"/>
                </a:solidFill>
                <a:latin typeface="Times New Roman"/>
                <a:ea typeface="Times New Roman"/>
                <a:cs typeface="Times New Roman"/>
                <a:sym typeface="Times New Roman"/>
              </a:rPr>
              <a:t xml:space="preserve">data contract</a:t>
            </a:r>
            <a:r>
              <a:rPr lang="vi-VN" sz="1700" b="0" i="0" dirty="0">
                <a:solidFill>
                  <a:srgbClr val="262626"/>
                </a:solidFill>
                <a:latin typeface="Times New Roman"/>
                <a:ea typeface="Times New Roman"/>
                <a:cs typeface="Times New Roman"/>
                <a:sym typeface="Times New Roman"/>
              </a:rPr>
              <a:t xml:space="preserve"> cố định</a:t>
            </a:r>
          </a:p>
        </p:txBody>
      </p:sp>
      <p:pic>
        <p:nvPicPr>
          <p:cNvPr id="95" name="Picture 94" descr="h1_kien_truc.png"/>
          <p:cNvPicPr>
            <a:picLocks noChangeAspect="1"/>
          </p:cNvPicPr>
          <p:nvPr/>
        </p:nvPicPr>
        <p:blipFill>
          <a:blip r:embed="rId3"/>
          <a:stretch>
            <a:fillRect/>
          </a:stretch>
        </p:blipFill>
        <p:spPr>
          <a:xfrm>
            <a:off x="3931920" y="1051560"/>
            <a:ext cx="5029200" cy="34469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latin typeface="Times New Roman"/>
                <a:ea typeface="Times New Roman"/>
                <a:cs typeface="Times New Roman"/>
                <a:sym typeface="Times New Roman"/>
              </a:rPr>
              <a:t>Ba nguồn dữ liệu và đặc trưng 3V</a:t>
            </a:r>
          </a:p>
        </p:txBody>
      </p:sp>
      <p:sp>
        <p:nvSpPr>
          <p:cNvPr id="4" name="Ghi chu"/>
          <p:cNvSpPr txBox="1"/>
          <p:nvPr/>
        </p:nvSpPr>
        <p:spPr>
          <a:xfrm>
            <a:off x="228600" y="3429000"/>
            <a:ext cx="8686800" cy="2651760"/>
          </a:xfrm>
          <a:prstGeom prst="rect">
            <a:avLst/>
          </a:prstGeom>
          <a:noFill/>
        </p:spPr>
        <p:txBody>
          <a:bodyPr wrap="square" anchor="t" lIns="0" rIns="0" tIns="0" bIns="0">
            <a:spAutoFit/>
          </a:bodyPr>
          <a:lstStyle/>
          <a:p>
            <a:pPr marL="285750" indent="-285750" algn="l">
              <a:lnSpc>
                <a:spcPct val="95000"/>
              </a:lnSpc>
              <a:spcBef>
                <a:spcPts val="0"/>
              </a:spcBef>
              <a:buClr>
                <a:srgbClr val="C00000"/>
              </a:buClr>
              <a:buSzPct val="100000"/>
              <a:buFont typeface="Arial"/>
              <a:buChar char="•"/>
            </a:pPr>
            <a:r>
              <a:rPr lang="vi-VN" sz="1700" b="1" i="0" dirty="0">
                <a:solidFill>
                  <a:srgbClr val="262626"/>
                </a:solidFill>
                <a:latin typeface="Times New Roman"/>
                <a:ea typeface="Times New Roman"/>
                <a:cs typeface="Times New Roman"/>
                <a:sym typeface="Times New Roman"/>
              </a:rPr>
              <a:t xml:space="preserve">Volume:</a:t>
            </a:r>
            <a:r>
              <a:rPr lang="vi-VN" sz="1700" b="0" i="0" dirty="0">
                <a:solidFill>
                  <a:srgbClr val="262626"/>
                </a:solidFill>
                <a:latin typeface="Times New Roman"/>
                <a:ea typeface="Times New Roman"/>
                <a:cs typeface="Times New Roman"/>
                <a:sym typeface="Times New Roman"/>
              </a:rPr>
              <a:t xml:space="preserve"> 12,1 triệu dòng gốc, 1,2 GB</a:t>
            </a:r>
          </a:p>
          <a:p>
            <a:pPr marL="285750" indent="-285750" algn="l">
              <a:lnSpc>
                <a:spcPct val="95000"/>
              </a:lnSpc>
              <a:spcBef>
                <a:spcPts val="900"/>
              </a:spcBef>
              <a:buClr>
                <a:srgbClr val="C00000"/>
              </a:buClr>
              <a:buSzPct val="100000"/>
              <a:buFont typeface="Arial"/>
              <a:buChar char="•"/>
            </a:pPr>
            <a:r>
              <a:rPr lang="vi-VN" sz="1700" b="1" i="0" dirty="0">
                <a:solidFill>
                  <a:srgbClr val="262626"/>
                </a:solidFill>
                <a:latin typeface="Times New Roman"/>
                <a:ea typeface="Times New Roman"/>
                <a:cs typeface="Times New Roman"/>
                <a:sym typeface="Times New Roman"/>
              </a:rPr>
              <a:t xml:space="preserve">Velocity:</a:t>
            </a:r>
            <a:r>
              <a:rPr lang="vi-VN" sz="1700" b="0" i="0" dirty="0">
                <a:solidFill>
                  <a:srgbClr val="262626"/>
                </a:solidFill>
                <a:latin typeface="Times New Roman"/>
                <a:ea typeface="Times New Roman"/>
                <a:cs typeface="Times New Roman"/>
                <a:sym typeface="Times New Roman"/>
              </a:rPr>
              <a:t xml:space="preserve"> nguồn tốc độ cập nhật vài lần mỗi phút</a:t>
            </a:r>
          </a:p>
          <a:p>
            <a:pPr marL="285750" indent="-285750" algn="l">
              <a:lnSpc>
                <a:spcPct val="95000"/>
              </a:lnSpc>
              <a:spcBef>
                <a:spcPts val="900"/>
              </a:spcBef>
              <a:buClr>
                <a:srgbClr val="C00000"/>
              </a:buClr>
              <a:buSzPct val="100000"/>
              <a:buFont typeface="Arial"/>
              <a:buChar char="•"/>
            </a:pPr>
            <a:r>
              <a:rPr lang="vi-VN" sz="1700" b="1" i="0" dirty="0">
                <a:solidFill>
                  <a:srgbClr val="262626"/>
                </a:solidFill>
                <a:latin typeface="Times New Roman"/>
                <a:ea typeface="Times New Roman"/>
                <a:cs typeface="Times New Roman"/>
                <a:sym typeface="Times New Roman"/>
              </a:rPr>
              <a:t xml:space="preserve">Variety:</a:t>
            </a:r>
            <a:r>
              <a:rPr lang="vi-VN" sz="1700" b="0" i="0" dirty="0">
                <a:solidFill>
                  <a:srgbClr val="262626"/>
                </a:solidFill>
                <a:latin typeface="Times New Roman"/>
                <a:ea typeface="Times New Roman"/>
                <a:cs typeface="Times New Roman"/>
                <a:sym typeface="Times New Roman"/>
              </a:rPr>
              <a:t xml:space="preserve"> 3 lược đồ, 2 hệ tọa độ, 3 độ chi tiết thời gian</a:t>
            </a:r>
          </a:p>
          <a:p>
            <a:pPr marL="285750" indent="-285750" algn="l">
              <a:lnSpc>
                <a:spcPct val="95000"/>
              </a:lnSpc>
              <a:spcBef>
                <a:spcPts val="900"/>
              </a:spcBef>
              <a:buClr>
                <a:srgbClr val="C00000"/>
              </a:buClr>
              <a:buSzPct val="100000"/>
              <a:buFont typeface="Arial"/>
              <a:buChar char="•"/>
            </a:pPr>
            <a:r>
              <a:rPr lang="vi-VN" sz="1700" b="1" i="0" dirty="0">
                <a:solidFill>
                  <a:srgbClr val="262626"/>
                </a:solidFill>
                <a:latin typeface="Times New Roman"/>
                <a:ea typeface="Times New Roman"/>
                <a:cs typeface="Times New Roman"/>
                <a:sym typeface="Times New Roman"/>
              </a:rPr>
              <a:t xml:space="preserve">Veracity:</a:t>
            </a:r>
            <a:r>
              <a:rPr lang="vi-VN" sz="1700" b="0" i="0" dirty="0">
                <a:solidFill>
                  <a:srgbClr val="262626"/>
                </a:solidFill>
                <a:latin typeface="Times New Roman"/>
                <a:ea typeface="Times New Roman"/>
                <a:cs typeface="Times New Roman"/>
                <a:sym typeface="Times New Roman"/>
              </a:rPr>
              <a:t xml:space="preserve"> </a:t>
            </a:r>
            <a:r>
              <a:rPr lang="vi-VN" sz="1700" b="1" i="0" dirty="0">
                <a:solidFill>
                  <a:srgbClr val="C00000"/>
                </a:solidFill>
                <a:latin typeface="Times New Roman"/>
                <a:ea typeface="Times New Roman"/>
                <a:cs typeface="Times New Roman"/>
                <a:sym typeface="Times New Roman"/>
              </a:rPr>
              <a:t xml:space="preserve">24,41%</a:t>
            </a:r>
            <a:r>
              <a:rPr lang="vi-VN" sz="1700" b="0" i="0" dirty="0">
                <a:solidFill>
                  <a:srgbClr val="262626"/>
                </a:solidFill>
                <a:latin typeface="Times New Roman"/>
                <a:ea typeface="Times New Roman"/>
                <a:cs typeface="Times New Roman"/>
                <a:sym typeface="Times New Roman"/>
              </a:rPr>
              <a:t xml:space="preserve"> bản ghi tốc độ không tin cậy (</a:t>
            </a:r>
            <a:r>
              <a:rPr lang="vi-VN" sz="1700" b="0" i="0" dirty="0">
                <a:solidFill>
                  <a:srgbClr val="262626"/>
                </a:solidFill>
                <a:latin typeface="Courier New"/>
                <a:ea typeface="Courier New"/>
                <a:cs typeface="Courier New"/>
                <a:sym typeface="Courier New"/>
              </a:rPr>
              <a:t xml:space="preserve">status = -101</a:t>
            </a:r>
            <a:r>
              <a:rPr lang="vi-VN" sz="1700" b="0" i="0" dirty="0">
                <a:solidFill>
                  <a:srgbClr val="262626"/>
                </a:solidFill>
                <a:latin typeface="Times New Roman"/>
                <a:ea typeface="Times New Roman"/>
                <a:cs typeface="Times New Roman"/>
                <a:sym typeface="Times New Roman"/>
              </a:rPr>
              <a:t xml:space="preserve">)</a:t>
            </a:r>
          </a:p>
        </p:txBody>
      </p:sp>
      <p:graphicFrame>
        <p:nvGraphicFramePr>
          <p:cNvPr id="5" name="Table 4"/>
          <p:cNvGraphicFramePr>
            <a:graphicFrameLocks noGrp="1"/>
          </p:cNvGraphicFramePr>
          <p:nvPr/>
        </p:nvGraphicFramePr>
        <p:xfrm>
          <a:off x="228600" y="868680"/>
          <a:ext cx="8686800" cy="2267712"/>
        </p:xfrm>
        <a:graphic>
          <a:graphicData uri="http://schemas.openxmlformats.org/drawingml/2006/table">
            <a:tbl>
              <a:tblPr firstRow="1" bandRow="0"/>
              <a:tblGrid>
                <a:gridCol w="2926080"/>
                <a:gridCol w="2560320"/>
                <a:gridCol w="3200400"/>
              </a:tblGrid>
              <a:tr h="566928">
                <a:tc>
                  <a:txBody>
                    <a:bodyPr wrap="square"/>
                    <a:lstStyle/>
                    <a:p>
                      <a:pPr algn="ctr"/>
                      <a:r>
                        <a:rPr lang="vi-VN" sz="1500" b="1" i="0" dirty="0">
                          <a:solidFill>
                            <a:srgbClr val="FFFFFF"/>
                          </a:solidFill>
                          <a:latin typeface="Times New Roman"/>
                          <a:ea typeface="Times New Roman"/>
                          <a:cs typeface="Times New Roman"/>
                          <a:sym typeface="Times New Roman"/>
                        </a:rPr>
                        <a:t xml:space="preserve">Nguồn</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c>
                  <a:txBody>
                    <a:bodyPr wrap="square"/>
                    <a:lstStyle/>
                    <a:p>
                      <a:pPr algn="ctr"/>
                      <a:r>
                        <a:rPr lang="vi-VN" sz="1500" b="1" i="0" dirty="0">
                          <a:solidFill>
                            <a:srgbClr val="FFFFFF"/>
                          </a:solidFill>
                          <a:latin typeface="Times New Roman"/>
                          <a:ea typeface="Times New Roman"/>
                          <a:cs typeface="Times New Roman"/>
                          <a:sym typeface="Times New Roman"/>
                        </a:rPr>
                        <a:t xml:space="preserve">Quy mô 2024</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c>
                  <a:txBody>
                    <a:bodyPr wrap="square"/>
                    <a:lstStyle/>
                    <a:p>
                      <a:pPr algn="ctr"/>
                      <a:r>
                        <a:rPr lang="vi-VN" sz="1500" b="1" i="0" dirty="0">
                          <a:solidFill>
                            <a:srgbClr val="FFFFFF"/>
                          </a:solidFill>
                          <a:latin typeface="Times New Roman"/>
                          <a:ea typeface="Times New Roman"/>
                          <a:cs typeface="Times New Roman"/>
                          <a:sym typeface="Times New Roman"/>
                        </a:rPr>
                        <a:t xml:space="preserve">Đặc điểm</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r>
              <a:tr h="566928">
                <a:tc>
                  <a:txBody>
                    <a:bodyPr wrap="square"/>
                    <a:lstStyle/>
                    <a:p>
                      <a:pPr algn="l"/>
                      <a:r>
                        <a:rPr lang="vi-VN" sz="1500" b="1" i="0" dirty="0">
                          <a:solidFill>
                            <a:srgbClr val="262626"/>
                          </a:solidFill>
                          <a:latin typeface="Times New Roman"/>
                          <a:ea typeface="Times New Roman"/>
                          <a:cs typeface="Times New Roman"/>
                          <a:sym typeface="Times New Roman"/>
                        </a:rPr>
                        <a:t xml:space="preserve">NYC DOT Traffic Speeds</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wrap="square"/>
                    <a:lstStyle/>
                    <a:p>
                      <a:pPr algn="l"/>
                      <a:r>
                        <a:rPr lang="vi-VN" sz="1500" b="0" i="0" dirty="0">
                          <a:solidFill>
                            <a:srgbClr val="262626"/>
                          </a:solidFill>
                          <a:latin typeface="Times New Roman"/>
                          <a:ea typeface="Times New Roman"/>
                          <a:cs typeface="Times New Roman"/>
                          <a:sym typeface="Times New Roman"/>
                        </a:rPr>
                        <a:t xml:space="preserve">11.970.346 bản ghi</a:t>
                      </a:r>
                    </a:p>
                    <a:p>
                      <a:pPr algn="l"/>
                      <a:r>
                        <a:rPr lang="vi-VN" sz="1500" b="0" i="0" dirty="0">
                          <a:solidFill>
                            <a:srgbClr val="262626"/>
                          </a:solidFill>
                          <a:latin typeface="Times New Roman"/>
                          <a:ea typeface="Times New Roman"/>
                          <a:cs typeface="Times New Roman"/>
                          <a:sym typeface="Times New Roman"/>
                        </a:rPr>
                        <a:t xml:space="preserve">1,19 GB</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wrap="square"/>
                    <a:lstStyle/>
                    <a:p>
                      <a:pPr algn="l"/>
                      <a:r>
                        <a:rPr lang="vi-VN" sz="1500" b="0" i="0" dirty="0">
                          <a:solidFill>
                            <a:srgbClr val="262626"/>
                          </a:solidFill>
                          <a:latin typeface="Times New Roman"/>
                          <a:ea typeface="Times New Roman"/>
                          <a:cs typeface="Times New Roman"/>
                          <a:sym typeface="Times New Roman"/>
                        </a:rPr>
                        <a:t xml:space="preserve">mph, 5 phút/lần, tọa độ lat/lon</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r h="566928">
                <a:tc>
                  <a:txBody>
                    <a:bodyPr wrap="square"/>
                    <a:lstStyle/>
                    <a:p>
                      <a:pPr algn="l"/>
                      <a:r>
                        <a:rPr lang="vi-VN" sz="1500" b="1" i="0" dirty="0">
                          <a:solidFill>
                            <a:srgbClr val="262626"/>
                          </a:solidFill>
                          <a:latin typeface="Times New Roman"/>
                          <a:ea typeface="Times New Roman"/>
                          <a:cs typeface="Times New Roman"/>
                          <a:sym typeface="Times New Roman"/>
                        </a:rPr>
                        <a:t xml:space="preserve">NYC Traffic Volume Counts</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7ECEC"/>
                    </a:solidFill>
                  </a:tcPr>
                </a:tc>
                <a:tc>
                  <a:txBody>
                    <a:bodyPr wrap="square"/>
                    <a:lstStyle/>
                    <a:p>
                      <a:pPr algn="l"/>
                      <a:r>
                        <a:rPr lang="vi-VN" sz="1500" b="0" i="0" dirty="0">
                          <a:solidFill>
                            <a:srgbClr val="262626"/>
                          </a:solidFill>
                          <a:latin typeface="Times New Roman"/>
                          <a:ea typeface="Times New Roman"/>
                          <a:cs typeface="Times New Roman"/>
                          <a:sym typeface="Times New Roman"/>
                        </a:rPr>
                        <a:t xml:space="preserve">95.203 bản ghi</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7ECEC"/>
                    </a:solidFill>
                  </a:tcPr>
                </a:tc>
                <a:tc>
                  <a:txBody>
                    <a:bodyPr wrap="square"/>
                    <a:lstStyle/>
                    <a:p>
                      <a:pPr algn="l"/>
                      <a:r>
                        <a:rPr lang="vi-VN" sz="1500" b="0" i="0" dirty="0">
                          <a:solidFill>
                            <a:srgbClr val="262626"/>
                          </a:solidFill>
                          <a:latin typeface="Times New Roman"/>
                          <a:ea typeface="Times New Roman"/>
                          <a:cs typeface="Times New Roman"/>
                          <a:sym typeface="Times New Roman"/>
                        </a:rPr>
                        <a:t xml:space="preserve">15 phút, tọa độ State Plane (feet)</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7ECEC"/>
                    </a:solidFill>
                  </a:tcPr>
                </a:tc>
              </a:tr>
              <a:tr h="566928">
                <a:tc>
                  <a:txBody>
                    <a:bodyPr wrap="square"/>
                    <a:lstStyle/>
                    <a:p>
                      <a:pPr algn="l"/>
                      <a:r>
                        <a:rPr lang="vi-VN" sz="1500" b="1" i="0" dirty="0">
                          <a:solidFill>
                            <a:srgbClr val="262626"/>
                          </a:solidFill>
                          <a:latin typeface="Times New Roman"/>
                          <a:ea typeface="Times New Roman"/>
                          <a:cs typeface="Times New Roman"/>
                          <a:sym typeface="Times New Roman"/>
                        </a:rPr>
                        <a:t xml:space="preserve">Open-Meteo Weather</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wrap="square"/>
                    <a:lstStyle/>
                    <a:p>
                      <a:pPr algn="l"/>
                      <a:r>
                        <a:rPr lang="vi-VN" sz="1500" b="0" i="0" dirty="0">
                          <a:solidFill>
                            <a:srgbClr val="262626"/>
                          </a:solidFill>
                          <a:latin typeface="Times New Roman"/>
                          <a:ea typeface="Times New Roman"/>
                          <a:cs typeface="Times New Roman"/>
                          <a:sym typeface="Times New Roman"/>
                        </a:rPr>
                        <a:t xml:space="preserve">5 điểm × 8.784 giờ</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wrap="square"/>
                    <a:lstStyle/>
                    <a:p>
                      <a:pPr algn="l"/>
                      <a:r>
                        <a:rPr lang="vi-VN" sz="1500" b="0" i="0" dirty="0">
                          <a:solidFill>
                            <a:srgbClr val="262626"/>
                          </a:solidFill>
                          <a:latin typeface="Times New Roman"/>
                          <a:ea typeface="Times New Roman"/>
                          <a:cs typeface="Times New Roman"/>
                          <a:sym typeface="Times New Roman"/>
                        </a:rPr>
                        <a:t xml:space="preserve">Giờ UTC, mã thời tiết WMO</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6"/>
          <p:cNvSpPr txBox="1"/>
          <p:nvPr>
            <p:ph idx="1" type="body"/>
          </p:nvPr>
        </p:nvSpPr>
        <p:spPr>
          <a:xfrm>
            <a:off x="228600" y="914400"/>
            <a:ext cx="4251960" cy="5212080"/>
          </a:xfrm>
          <a:prstGeom prst="rect">
            <a:avLst/>
          </a:prstGeom>
          <a:noFill/>
          <a:ln>
            <a:noFill/>
          </a:ln>
        </p:spPr>
        <p:txBody>
          <a:bodyPr anchorCtr="0" anchor="t" bIns="45700" lIns="91425" spcFirstLastPara="1" rIns="91425" wrap="square" tIns="45700">
            <a:noAutofit/>
          </a:bodyPr>
          <a:lstStyle/>
          <a:p>
            <a:pPr marL="0" indent="0" algn="l">
              <a:lnSpc>
                <a:spcPct val="95000"/>
              </a:lnSpc>
              <a:spcBef>
                <a:spcPts val="0"/>
              </a:spcBef>
              <a:buNone/>
            </a:pPr>
            <a:r>
              <a:rPr lang="vi-VN" sz="1600" b="1" i="0" dirty="0">
                <a:solidFill>
                  <a:srgbClr val="C00000"/>
                </a:solidFill>
                <a:latin typeface="Times New Roman"/>
                <a:ea typeface="Times New Roman"/>
                <a:cs typeface="Times New Roman"/>
                <a:sym typeface="Times New Roman"/>
              </a:rPr>
              <a:t xml:space="preserve">PHÁT HIỆN KHI PROFILING</a:t>
            </a:r>
          </a:p>
          <a:p>
            <a:pPr marL="285750" indent="-285750" algn="l">
              <a:lnSpc>
                <a:spcPct val="95000"/>
              </a:lnSpc>
              <a:spcBef>
                <a:spcPts val="900"/>
              </a:spcBef>
              <a:buClr>
                <a:srgbClr val="C00000"/>
              </a:buClr>
              <a:buSzPct val="100000"/>
              <a:buFont typeface="Arial"/>
              <a:buChar char="•"/>
            </a:pPr>
            <a:r>
              <a:rPr lang="vi-VN" sz="1500" b="1" i="0" dirty="0">
                <a:solidFill>
                  <a:srgbClr val="262626"/>
                </a:solidFill>
                <a:latin typeface="Times New Roman"/>
                <a:ea typeface="Times New Roman"/>
                <a:cs typeface="Times New Roman"/>
                <a:sym typeface="Times New Roman"/>
              </a:rPr>
              <a:t xml:space="preserve">2.922.227</a:t>
            </a:r>
            <a:r>
              <a:rPr lang="vi-VN" sz="1500" b="0" i="0" dirty="0">
                <a:solidFill>
                  <a:srgbClr val="262626"/>
                </a:solidFill>
                <a:latin typeface="Times New Roman"/>
                <a:ea typeface="Times New Roman"/>
                <a:cs typeface="Times New Roman"/>
                <a:sym typeface="Times New Roman"/>
              </a:rPr>
              <a:t xml:space="preserve"> bản ghi </a:t>
            </a:r>
            <a:r>
              <a:rPr lang="vi-VN" sz="1500" b="0" i="0" dirty="0">
                <a:solidFill>
                  <a:srgbClr val="262626"/>
                </a:solidFill>
                <a:latin typeface="Courier New"/>
                <a:ea typeface="Courier New"/>
                <a:cs typeface="Courier New"/>
                <a:sym typeface="Courier New"/>
              </a:rPr>
              <a:t xml:space="preserve">status = -101</a:t>
            </a:r>
            <a:r>
              <a:rPr lang="vi-VN" sz="1500" b="0" i="0" dirty="0">
                <a:solidFill>
                  <a:srgbClr val="262626"/>
                </a:solidFill>
                <a:latin typeface="Times New Roman"/>
                <a:ea typeface="Times New Roman"/>
                <a:cs typeface="Times New Roman"/>
                <a:sym typeface="Times New Roman"/>
              </a:rPr>
              <a:t xml:space="preserve"> (24,41%): trung vị 23,6 mph so với 41,6 mph bình thường</a:t>
            </a:r>
          </a:p>
          <a:p>
            <a:pPr marL="285750" indent="-285750" algn="l">
              <a:lnSpc>
                <a:spcPct val="95000"/>
              </a:lnSpc>
              <a:spcBef>
                <a:spcPts val="900"/>
              </a:spcBef>
              <a:buClr>
                <a:srgbClr val="C00000"/>
              </a:buClr>
              <a:buSzPct val="100000"/>
              <a:buFont typeface="Arial"/>
              <a:buChar char="•"/>
            </a:pPr>
            <a:r>
              <a:rPr lang="vi-VN" sz="1500" b="0" i="0" dirty="0">
                <a:solidFill>
                  <a:srgbClr val="262626"/>
                </a:solidFill>
                <a:latin typeface="Courier New"/>
                <a:ea typeface="Courier New"/>
                <a:cs typeface="Courier New"/>
                <a:sym typeface="Courier New"/>
              </a:rPr>
              <a:t xml:space="preserve">link_points</a:t>
            </a:r>
            <a:r>
              <a:rPr lang="vi-VN" sz="1500" b="0" i="0" dirty="0">
                <a:solidFill>
                  <a:srgbClr val="262626"/>
                </a:solidFill>
                <a:latin typeface="Times New Roman"/>
                <a:ea typeface="Times New Roman"/>
                <a:cs typeface="Times New Roman"/>
                <a:sym typeface="Times New Roman"/>
              </a:rPr>
              <a:t xml:space="preserve"> </a:t>
            </a:r>
            <a:r>
              <a:rPr lang="vi-VN" sz="1500" b="1" i="0" dirty="0">
                <a:solidFill>
                  <a:srgbClr val="262626"/>
                </a:solidFill>
                <a:latin typeface="Times New Roman"/>
                <a:ea typeface="Times New Roman"/>
                <a:cs typeface="Times New Roman"/>
                <a:sym typeface="Times New Roman"/>
              </a:rPr>
              <a:t xml:space="preserve">bị cắt ở đúng 255 ký tự</a:t>
            </a:r>
            <a:r>
              <a:rPr lang="vi-VN" sz="1500" b="0" i="0" dirty="0">
                <a:solidFill>
                  <a:srgbClr val="262626"/>
                </a:solidFill>
                <a:latin typeface="Times New Roman"/>
                <a:ea typeface="Times New Roman"/>
                <a:cs typeface="Times New Roman"/>
                <a:sym typeface="Times New Roman"/>
              </a:rPr>
              <a:t xml:space="preserve"> (68 tuyến), vẫn đúng định dạng nên rất khó thấy</a:t>
            </a:r>
          </a:p>
          <a:p>
            <a:pPr marL="285750" indent="-285750" algn="l">
              <a:lnSpc>
                <a:spcPct val="95000"/>
              </a:lnSpc>
              <a:spcBef>
                <a:spcPts val="900"/>
              </a:spcBef>
              <a:buClr>
                <a:srgbClr val="C00000"/>
              </a:buClr>
              <a:buSzPct val="100000"/>
              <a:buFont typeface="Arial"/>
              <a:buChar char="•"/>
            </a:pPr>
            <a:r>
              <a:rPr lang="vi-VN" sz="1500" b="1" i="0" dirty="0">
                <a:solidFill>
                  <a:srgbClr val="262626"/>
                </a:solidFill>
                <a:latin typeface="Times New Roman"/>
                <a:ea typeface="Times New Roman"/>
                <a:cs typeface="Times New Roman"/>
                <a:sym typeface="Times New Roman"/>
              </a:rPr>
              <a:t xml:space="preserve">22 ngày</a:t>
            </a:r>
            <a:r>
              <a:rPr lang="vi-VN" sz="1500" b="0" i="0" dirty="0">
                <a:solidFill>
                  <a:srgbClr val="262626"/>
                </a:solidFill>
                <a:latin typeface="Times New Roman"/>
                <a:ea typeface="Times New Roman"/>
                <a:cs typeface="Times New Roman"/>
                <a:sym typeface="Times New Roman"/>
              </a:rPr>
              <a:t xml:space="preserve"> nguồn tốc độ mất dữ liệu</a:t>
            </a:r>
          </a:p>
          <a:p>
            <a:pPr marL="285750" indent="-285750" algn="l">
              <a:lnSpc>
                <a:spcPct val="95000"/>
              </a:lnSpc>
              <a:spcBef>
                <a:spcPts val="900"/>
              </a:spcBef>
              <a:buClr>
                <a:srgbClr val="C00000"/>
              </a:buClr>
              <a:buSzPct val="100000"/>
              <a:buFont typeface="Arial"/>
              <a:buChar char="•"/>
            </a:pPr>
            <a:r>
              <a:rPr lang="vi-VN" sz="1500" b="0" i="0" dirty="0">
                <a:solidFill>
                  <a:srgbClr val="262626"/>
                </a:solidFill>
                <a:latin typeface="Times New Roman"/>
                <a:ea typeface="Times New Roman"/>
                <a:cs typeface="Times New Roman"/>
                <a:sym typeface="Times New Roman"/>
              </a:rPr>
              <a:t xml:space="preserve">Chuyển giờ DST: giờ lặp 03/11, giờ không tồn tại 10/03</a:t>
            </a:r>
          </a:p>
        </p:txBody>
      </p:sp>
      <p:sp>
        <p:nvSpPr>
          <p:cNvPr id="112" name="Google Shape;112;p6"/>
          <p:cNvSpPr txBox="1"/>
          <p:nvPr>
            <p:ph idx="2" type="body"/>
          </p:nvPr>
        </p:nvSpPr>
        <p:spPr>
          <a:xfrm>
            <a:off x="4617720" y="914400"/>
            <a:ext cx="4297680" cy="5212080"/>
          </a:xfrm>
          <a:prstGeom prst="rect">
            <a:avLst/>
          </a:prstGeom>
          <a:noFill/>
          <a:ln>
            <a:noFill/>
          </a:ln>
        </p:spPr>
        <p:txBody>
          <a:bodyPr anchorCtr="0" anchor="t" bIns="45700" lIns="91425" spcFirstLastPara="1" rIns="91425" wrap="square" tIns="45700">
            <a:noAutofit/>
          </a:bodyPr>
          <a:lstStyle/>
          <a:p>
            <a:pPr marL="0" indent="0" algn="l">
              <a:lnSpc>
                <a:spcPct val="95000"/>
              </a:lnSpc>
              <a:spcBef>
                <a:spcPts val="0"/>
              </a:spcBef>
              <a:buNone/>
            </a:pPr>
            <a:r>
              <a:rPr lang="vi-VN" sz="1600" b="1" i="0" dirty="0">
                <a:solidFill>
                  <a:srgbClr val="C00000"/>
                </a:solidFill>
                <a:latin typeface="Times New Roman"/>
                <a:ea typeface="Times New Roman"/>
                <a:cs typeface="Times New Roman"/>
                <a:sym typeface="Times New Roman"/>
              </a:rPr>
              <a:t xml:space="preserve">XỬ LÝ VÀ KẾT QUẢ</a:t>
            </a:r>
          </a:p>
          <a:p>
            <a:pPr marL="285750" indent="-285750" algn="l">
              <a:lnSpc>
                <a:spcPct val="95000"/>
              </a:lnSpc>
              <a:spcBef>
                <a:spcPts val="900"/>
              </a:spcBef>
              <a:buClr>
                <a:srgbClr val="C00000"/>
              </a:buClr>
              <a:buSzPct val="100000"/>
              <a:buFont typeface="Arial"/>
              <a:buChar char="•"/>
            </a:pPr>
            <a:r>
              <a:rPr lang="vi-VN" sz="1500" b="0" i="0" dirty="0">
                <a:solidFill>
                  <a:srgbClr val="262626"/>
                </a:solidFill>
                <a:latin typeface="Times New Roman"/>
                <a:ea typeface="Times New Roman"/>
                <a:cs typeface="Times New Roman"/>
                <a:sym typeface="Times New Roman"/>
              </a:rPr>
              <a:t xml:space="preserve">Loại bản ghi </a:t>
            </a:r>
            <a:r>
              <a:rPr lang="vi-VN" sz="1500" b="0" i="0" dirty="0">
                <a:solidFill>
                  <a:srgbClr val="262626"/>
                </a:solidFill>
                <a:latin typeface="Courier New"/>
                <a:ea typeface="Courier New"/>
                <a:cs typeface="Courier New"/>
                <a:sym typeface="Courier New"/>
              </a:rPr>
              <a:t xml:space="preserve">status = -101</a:t>
            </a:r>
          </a:p>
          <a:p>
            <a:pPr marL="285750" indent="-285750" algn="l">
              <a:lnSpc>
                <a:spcPct val="95000"/>
              </a:lnSpc>
              <a:spcBef>
                <a:spcPts val="900"/>
              </a:spcBef>
              <a:buClr>
                <a:srgbClr val="C00000"/>
              </a:buClr>
              <a:buSzPct val="100000"/>
              <a:buFont typeface="Arial"/>
              <a:buChar char="•"/>
            </a:pPr>
            <a:r>
              <a:rPr lang="vi-VN" sz="1500" b="0" i="0" dirty="0">
                <a:solidFill>
                  <a:srgbClr val="262626"/>
                </a:solidFill>
                <a:latin typeface="Times New Roman"/>
                <a:ea typeface="Times New Roman"/>
                <a:cs typeface="Times New Roman"/>
                <a:sym typeface="Times New Roman"/>
              </a:rPr>
              <a:t xml:space="preserve">Bỏ cặp tọa độ cuối khi chuỗi dài từ 255 ký tự</a:t>
            </a:r>
          </a:p>
          <a:p>
            <a:pPr marL="285750" indent="-285750" algn="l">
              <a:lnSpc>
                <a:spcPct val="95000"/>
              </a:lnSpc>
              <a:spcBef>
                <a:spcPts val="900"/>
              </a:spcBef>
              <a:buClr>
                <a:srgbClr val="C00000"/>
              </a:buClr>
              <a:buSzPct val="100000"/>
              <a:buFont typeface="Arial"/>
              <a:buChar char="•"/>
            </a:pPr>
            <a:r>
              <a:rPr lang="vi-VN" sz="1500" b="0" i="0" dirty="0">
                <a:solidFill>
                  <a:srgbClr val="262626"/>
                </a:solidFill>
                <a:latin typeface="Times New Roman"/>
                <a:ea typeface="Times New Roman"/>
                <a:cs typeface="Times New Roman"/>
                <a:sym typeface="Times New Roman"/>
              </a:rPr>
              <a:t xml:space="preserve">Ngày mất dữ liệu: </a:t>
            </a:r>
            <a:r>
              <a:rPr lang="vi-VN" sz="1500" b="1" i="0" dirty="0">
                <a:solidFill>
                  <a:srgbClr val="262626"/>
                </a:solidFill>
                <a:latin typeface="Times New Roman"/>
                <a:ea typeface="Times New Roman"/>
                <a:cs typeface="Times New Roman"/>
                <a:sym typeface="Times New Roman"/>
              </a:rPr>
              <a:t xml:space="preserve">đánh dấu</a:t>
            </a:r>
            <a:r>
              <a:rPr lang="vi-VN" sz="1500" b="0" i="0" dirty="0">
                <a:solidFill>
                  <a:srgbClr val="262626"/>
                </a:solidFill>
                <a:latin typeface="Times New Roman"/>
                <a:ea typeface="Times New Roman"/>
                <a:cs typeface="Times New Roman"/>
                <a:sym typeface="Times New Roman"/>
              </a:rPr>
              <a:t xml:space="preserve">, không xóa, không nội suy</a:t>
            </a:r>
          </a:p>
          <a:p>
            <a:pPr marL="285750" indent="-285750" algn="l">
              <a:lnSpc>
                <a:spcPct val="95000"/>
              </a:lnSpc>
              <a:spcBef>
                <a:spcPts val="900"/>
              </a:spcBef>
              <a:buClr>
                <a:srgbClr val="C00000"/>
              </a:buClr>
              <a:buSzPct val="100000"/>
              <a:buFont typeface="Arial"/>
              <a:buChar char="•"/>
            </a:pPr>
            <a:r>
              <a:rPr lang="vi-VN" sz="1500" b="0" i="0" dirty="0">
                <a:solidFill>
                  <a:srgbClr val="262626"/>
                </a:solidFill>
                <a:latin typeface="Times New Roman"/>
                <a:ea typeface="Times New Roman"/>
                <a:cs typeface="Times New Roman"/>
                <a:sym typeface="Times New Roman"/>
              </a:rPr>
              <a:t xml:space="preserve">Chuẩn hóa múi giờ (gồm DST); mph → km/h</a:t>
            </a:r>
          </a:p>
          <a:p>
            <a:pPr marL="285750" indent="-285750" algn="l">
              <a:lnSpc>
                <a:spcPct val="95000"/>
              </a:lnSpc>
              <a:spcBef>
                <a:spcPts val="900"/>
              </a:spcBef>
              <a:buClr>
                <a:srgbClr val="C00000"/>
              </a:buClr>
              <a:buSzPct val="100000"/>
              <a:buFont typeface="Arial"/>
              <a:buChar char="•"/>
            </a:pPr>
            <a:r>
              <a:rPr lang="vi-VN" sz="1500" b="0" i="0" dirty="0">
                <a:solidFill>
                  <a:srgbClr val="262626"/>
                </a:solidFill>
                <a:latin typeface="Times New Roman"/>
                <a:ea typeface="Times New Roman"/>
                <a:cs typeface="Times New Roman"/>
                <a:sym typeface="Times New Roman"/>
              </a:rPr>
              <a:t xml:space="preserve">11,97 triệu → </a:t>
            </a:r>
            <a:r>
              <a:rPr lang="vi-VN" sz="1500" b="1" i="0" dirty="0">
                <a:solidFill>
                  <a:srgbClr val="C00000"/>
                </a:solidFill>
                <a:latin typeface="Times New Roman"/>
                <a:ea typeface="Times New Roman"/>
                <a:cs typeface="Times New Roman"/>
                <a:sym typeface="Times New Roman"/>
              </a:rPr>
              <a:t xml:space="preserve">9.048.108</a:t>
            </a:r>
            <a:r>
              <a:rPr lang="vi-VN" sz="1500" b="0" i="0" dirty="0">
                <a:solidFill>
                  <a:srgbClr val="262626"/>
                </a:solidFill>
                <a:latin typeface="Times New Roman"/>
                <a:ea typeface="Times New Roman"/>
                <a:cs typeface="Times New Roman"/>
                <a:sym typeface="Times New Roman"/>
              </a:rPr>
              <a:t xml:space="preserve"> bản ghi</a:t>
            </a:r>
          </a:p>
          <a:p>
            <a:pPr marL="285750" indent="-285750" algn="l">
              <a:lnSpc>
                <a:spcPct val="95000"/>
              </a:lnSpc>
              <a:spcBef>
                <a:spcPts val="900"/>
              </a:spcBef>
              <a:buClr>
                <a:srgbClr val="C00000"/>
              </a:buClr>
              <a:buSzPct val="100000"/>
              <a:buFont typeface="Arial"/>
              <a:buChar char="•"/>
            </a:pPr>
            <a:r>
              <a:rPr lang="vi-VN" sz="1500" b="0" i="0" dirty="0">
                <a:solidFill>
                  <a:srgbClr val="262626"/>
                </a:solidFill>
                <a:latin typeface="Times New Roman"/>
                <a:ea typeface="Times New Roman"/>
                <a:cs typeface="Times New Roman"/>
                <a:sym typeface="Times New Roman"/>
              </a:rPr>
              <a:t xml:space="preserve">1,2 GB CSV → </a:t>
            </a:r>
            <a:r>
              <a:rPr lang="vi-VN" sz="1500" b="1" i="0" dirty="0">
                <a:solidFill>
                  <a:srgbClr val="262626"/>
                </a:solidFill>
                <a:latin typeface="Times New Roman"/>
                <a:ea typeface="Times New Roman"/>
                <a:cs typeface="Times New Roman"/>
                <a:sym typeface="Times New Roman"/>
              </a:rPr>
              <a:t xml:space="preserve">40 MB</a:t>
            </a:r>
            <a:r>
              <a:rPr lang="vi-VN" sz="1500" b="0" i="0" dirty="0">
                <a:solidFill>
                  <a:srgbClr val="262626"/>
                </a:solidFill>
                <a:latin typeface="Times New Roman"/>
                <a:ea typeface="Times New Roman"/>
                <a:cs typeface="Times New Roman"/>
                <a:sym typeface="Times New Roman"/>
              </a:rPr>
              <a:t xml:space="preserve"> Parquet</a:t>
            </a:r>
          </a:p>
        </p:txBody>
      </p:sp>
      <p:sp>
        <p:nvSpPr>
          <p:cNvPr id="113" name="Google Shape;113;p6"/>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Font typeface="Times New Roman"/>
              <a:buNone/>
            </a:pPr>
            <a:r>
              <a:rPr b="1" lang="en-US" sz="2800">
                <a:solidFill>
                  <a:schemeClr val="dk1"/>
                </a:solidFill>
                <a:latin typeface="Times New Roman"/>
                <a:ea typeface="Times New Roman"/>
                <a:cs typeface="Times New Roman"/>
                <a:sym typeface="Times New Roman"/>
              </a:rPr>
              <a:t>Profiling và làm sạch: lỗi thật trong dữ liệu thật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3"/>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Font typeface="Lato"/>
              <a:buNone/>
            </a:pPr>
            <a:r>
              <a:rPr lang="en-US" sz="2800">
                <a:solidFill>
                  <a:schemeClr val="dk1"/>
                </a:solidFill>
                <a:latin typeface="Times New Roman"/>
                <a:ea typeface="Times New Roman"/>
                <a:cs typeface="Times New Roman"/>
                <a:sym typeface="Times New Roman"/>
              </a:rPr>
              <a:t>Schema Alignment theo mô hình GAV</a:t>
            </a:r>
            <a:endParaRPr>
              <a:latin typeface="Times New Roman"/>
              <a:ea typeface="Times New Roman"/>
              <a:cs typeface="Times New Roman"/>
              <a:sym typeface="Times New Roman"/>
            </a:endParaRPr>
          </a:p>
        </p:txBody>
      </p:sp>
      <p:sp>
        <p:nvSpPr>
          <p:cNvPr id="94" name="Google Shape;94;p3"/>
          <p:cNvSpPr txBox="1"/>
          <p:nvPr>
            <p:ph idx="1" type="body"/>
          </p:nvPr>
        </p:nvSpPr>
        <p:spPr>
          <a:xfrm>
            <a:off x="228600" y="868680"/>
            <a:ext cx="8686800" cy="1828800"/>
          </a:xfrm>
          <a:prstGeom prst="rect">
            <a:avLst/>
          </a:prstGeom>
          <a:noFill/>
          <a:ln>
            <a:noFill/>
          </a:ln>
        </p:spPr>
        <p:txBody>
          <a:bodyPr anchorCtr="0" anchor="t" bIns="45700" lIns="91425" spcFirstLastPara="1" rIns="91425" wrap="square" tIns="45700">
            <a:noAutofit/>
          </a:bodyPr>
          <a:lstStyle/>
          <a:p>
            <a:pPr marL="285750" indent="-285750" algn="l">
              <a:lnSpc>
                <a:spcPct val="95000"/>
              </a:lnSpc>
              <a:spcBef>
                <a:spcPts val="0"/>
              </a:spcBef>
              <a:buClr>
                <a:srgbClr val="C00000"/>
              </a:buClr>
              <a:buSzPct val="100000"/>
              <a:buFont typeface="Arial"/>
              <a:buChar char="•"/>
            </a:pPr>
            <a:r>
              <a:rPr lang="vi-VN" sz="1600" b="0" i="0" dirty="0">
                <a:solidFill>
                  <a:srgbClr val="262626"/>
                </a:solidFill>
                <a:latin typeface="Times New Roman"/>
                <a:ea typeface="Times New Roman"/>
                <a:cs typeface="Times New Roman"/>
                <a:sym typeface="Times New Roman"/>
              </a:rPr>
              <a:t xml:space="preserve">Matcher tự động chỉ theo tên: recall </a:t>
            </a:r>
            <a:r>
              <a:rPr lang="vi-VN" sz="1600" b="1" i="0" dirty="0">
                <a:solidFill>
                  <a:srgbClr val="262626"/>
                </a:solidFill>
                <a:latin typeface="Times New Roman"/>
                <a:ea typeface="Times New Roman"/>
                <a:cs typeface="Times New Roman"/>
                <a:sym typeface="Times New Roman"/>
              </a:rPr>
              <a:t xml:space="preserve">0,35</a:t>
            </a:r>
            <a:r>
              <a:rPr lang="vi-VN" sz="1600" b="0" i="0" dirty="0">
                <a:solidFill>
                  <a:srgbClr val="262626"/>
                </a:solidFill>
                <a:latin typeface="Times New Roman"/>
                <a:ea typeface="Times New Roman"/>
                <a:cs typeface="Times New Roman"/>
                <a:sym typeface="Times New Roman"/>
              </a:rPr>
              <a:t xml:space="preserve">; thêm từ điển đồng nghĩa: F1 0,94, nhưng </a:t>
            </a:r>
            <a:r>
              <a:rPr lang="vi-VN" sz="1600" b="1" i="0" dirty="0">
                <a:solidFill>
                  <a:srgbClr val="262626"/>
                </a:solidFill>
                <a:latin typeface="Times New Roman"/>
                <a:ea typeface="Times New Roman"/>
                <a:cs typeface="Times New Roman"/>
                <a:sym typeface="Times New Roman"/>
              </a:rPr>
              <a:t xml:space="preserve">không tìm được phép biến đổi</a:t>
            </a:r>
          </a:p>
          <a:p>
            <a:pPr marL="285750" indent="-285750" algn="l">
              <a:lnSpc>
                <a:spcPct val="95000"/>
              </a:lnSpc>
              <a:spcBef>
                <a:spcPts val="900"/>
              </a:spcBef>
              <a:buClr>
                <a:srgbClr val="C00000"/>
              </a:buClr>
              <a:buSzPct val="100000"/>
              <a:buFont typeface="Arial"/>
              <a:buChar char="•"/>
            </a:pPr>
            <a:r>
              <a:rPr lang="vi-VN" sz="1600" b="0" i="0" dirty="0">
                <a:solidFill>
                  <a:srgbClr val="262626"/>
                </a:solidFill>
                <a:latin typeface="Times New Roman"/>
                <a:ea typeface="Times New Roman"/>
                <a:cs typeface="Times New Roman"/>
                <a:sym typeface="Times New Roman"/>
              </a:rPr>
              <a:t xml:space="preserve">→ Ánh xạ </a:t>
            </a:r>
            <a:r>
              <a:rPr lang="vi-VN" sz="1600" b="1" i="0" dirty="0">
                <a:solidFill>
                  <a:srgbClr val="C00000"/>
                </a:solidFill>
                <a:latin typeface="Times New Roman"/>
                <a:ea typeface="Times New Roman"/>
                <a:cs typeface="Times New Roman"/>
                <a:sym typeface="Times New Roman"/>
              </a:rPr>
              <a:t xml:space="preserve">Global-As-View</a:t>
            </a:r>
            <a:r>
              <a:rPr lang="vi-VN" sz="1600" b="0" i="0" dirty="0">
                <a:solidFill>
                  <a:srgbClr val="262626"/>
                </a:solidFill>
                <a:latin typeface="Times New Roman"/>
                <a:ea typeface="Times New Roman"/>
                <a:cs typeface="Times New Roman"/>
                <a:sym typeface="Times New Roman"/>
              </a:rPr>
              <a:t xml:space="preserve"> viết tay: mỗi quan hệ của lược đồ trung gian là một view trên các nguồn</a:t>
            </a:r>
          </a:p>
        </p:txBody>
      </p:sp>
      <p:sp>
        <p:nvSpPr>
          <p:cNvPr id="95" name="TextBox 94"/>
          <p:cNvSpPr txBox="1"/>
          <p:nvPr/>
        </p:nvSpPr>
        <p:spPr>
          <a:xfrm>
            <a:off x="320040" y="2148840"/>
            <a:ext cx="8503920" cy="1325880"/>
          </a:xfrm>
          <a:prstGeom prst="rect">
            <a:avLst/>
          </a:prstGeom>
          <a:solidFill>
            <a:srgbClr val="F7ECEC"/>
          </a:solidFill>
        </p:spPr>
        <p:txBody>
          <a:bodyPr wrap="square" anchor="ctr" lIns="91440" rIns="91440" tIns="45720" bIns="45720">
            <a:spAutoFit/>
          </a:bodyPr>
          <a:lstStyle/>
          <a:p>
            <a:pPr marL="0" indent="0" algn="l">
              <a:lnSpc>
                <a:spcPct val="95000"/>
              </a:lnSpc>
              <a:spcBef>
                <a:spcPts val="0"/>
              </a:spcBef>
              <a:buNone/>
            </a:pPr>
            <a:r>
              <a:rPr lang="vi-VN" sz="1150" b="0" i="0" dirty="0">
                <a:solidFill>
                  <a:srgbClr val="262626"/>
                </a:solidFill>
                <a:latin typeface="Courier New"/>
                <a:ea typeface="Courier New"/>
                <a:cs typeface="Courier New"/>
                <a:sym typeface="Courier New"/>
              </a:rPr>
              <a:t xml:space="preserve">T_speed(link, h, avg(kmh)) :- Speeds(link, t, mph, status), status = 0,</a:t>
            </a:r>
          </a:p>
          <a:p>
            <a:pPr marL="0" indent="0" algn="l">
              <a:lnSpc>
                <a:spcPct val="95000"/>
              </a:lnSpc>
              <a:spcBef>
                <a:spcPts val="0"/>
              </a:spcBef>
              <a:buNone/>
            </a:pPr>
            <a:r>
              <a:rPr lang="vi-VN" sz="1150" b="0" i="0" dirty="0">
                <a:solidFill>
                  <a:srgbClr val="262626"/>
                </a:solidFill>
                <a:latin typeface="Courier New"/>
                <a:ea typeface="Courier New"/>
                <a:cs typeface="Courier New"/>
                <a:sym typeface="Courier New"/>
              </a:rPr>
              <a:t xml:space="preserve">                              h = hour(t), kmh = mph * 1.609344</a:t>
            </a:r>
          </a:p>
          <a:p>
            <a:pPr marL="0" indent="0" algn="l">
              <a:lnSpc>
                <a:spcPct val="95000"/>
              </a:lnSpc>
              <a:spcBef>
                <a:spcPts val="0"/>
              </a:spcBef>
              <a:buNone/>
            </a:pPr>
            <a:r>
              <a:rPr lang="vi-VN" sz="1150" b="0" i="0" dirty="0">
                <a:solidFill>
                  <a:srgbClr val="262626"/>
                </a:solidFill>
                <a:latin typeface="Courier New"/>
                <a:ea typeface="Courier New"/>
                <a:cs typeface="Courier New"/>
                <a:sym typeface="Courier New"/>
              </a:rPr>
              <a:t xml:space="preserve">T_volume(seg, h, sum(vol)) :- Volume(seg, ..., yr, m, d, hh, vol), complete(seg, h)</a:t>
            </a:r>
          </a:p>
          <a:p>
            <a:pPr marL="0" indent="0" algn="l">
              <a:lnSpc>
                <a:spcPct val="95000"/>
              </a:lnSpc>
              <a:spcBef>
                <a:spcPts val="0"/>
              </a:spcBef>
              <a:buNone/>
            </a:pPr>
            <a:r>
              <a:rPr lang="vi-VN" sz="1150" b="0" i="0" dirty="0">
                <a:solidFill>
                  <a:srgbClr val="262626"/>
                </a:solidFill>
                <a:latin typeface="Courier New"/>
                <a:ea typeface="Courier New"/>
                <a:cs typeface="Courier New"/>
                <a:sym typeface="Courier New"/>
              </a:rPr>
              <a:t xml:space="preserve">Integrated(road, h, ...)   :- RoadLink(road, link/seg), T_speed / T_volume, W(district, h)</a:t>
            </a:r>
          </a:p>
        </p:txBody>
      </p:sp>
      <p:sp>
        <p:nvSpPr>
          <p:cNvPr id="96" name="TextBox 95"/>
          <p:cNvSpPr txBox="1"/>
          <p:nvPr/>
        </p:nvSpPr>
        <p:spPr>
          <a:xfrm>
            <a:off x="228600" y="3703320"/>
            <a:ext cx="8686800" cy="2011680"/>
          </a:xfrm>
          <a:prstGeom prst="rect">
            <a:avLst/>
          </a:prstGeom>
          <a:noFill/>
        </p:spPr>
        <p:txBody>
          <a:bodyPr wrap="square" anchor="t" lIns="91440" rIns="91440" tIns="45720" bIns="45720">
            <a:spAutoFit/>
          </a:bodyPr>
          <a:lstStyle/>
          <a:p>
            <a:pPr marL="285750" indent="-285750" algn="l">
              <a:lnSpc>
                <a:spcPct val="95000"/>
              </a:lnSpc>
              <a:spcBef>
                <a:spcPts val="0"/>
              </a:spcBef>
              <a:buClr>
                <a:srgbClr val="C00000"/>
              </a:buClr>
              <a:buSzPct val="100000"/>
              <a:buFont typeface="Arial"/>
              <a:buChar char="•"/>
            </a:pPr>
            <a:r>
              <a:rPr lang="vi-VN" sz="1600" b="1" i="0" dirty="0">
                <a:solidFill>
                  <a:srgbClr val="262626"/>
                </a:solidFill>
                <a:latin typeface="Times New Roman"/>
                <a:ea typeface="Times New Roman"/>
                <a:cs typeface="Times New Roman"/>
                <a:sym typeface="Times New Roman"/>
              </a:rPr>
              <a:t xml:space="preserve">Vì sao GAV:</a:t>
            </a:r>
            <a:r>
              <a:rPr lang="vi-VN" sz="1600" b="0" i="0" dirty="0">
                <a:solidFill>
                  <a:srgbClr val="262626"/>
                </a:solidFill>
                <a:latin typeface="Times New Roman"/>
                <a:ea typeface="Times New Roman"/>
                <a:cs typeface="Times New Roman"/>
                <a:sym typeface="Times New Roman"/>
              </a:rPr>
              <a:t xml:space="preserve"> unfolding đơn giản (materialize thành bảng), số nguồn ít và ổn định, hợp mô hình kho dữ liệu</a:t>
            </a:r>
          </a:p>
          <a:p>
            <a:pPr marL="285750" indent="-285750" algn="l">
              <a:lnSpc>
                <a:spcPct val="95000"/>
              </a:lnSpc>
              <a:spcBef>
                <a:spcPts val="900"/>
              </a:spcBef>
              <a:buClr>
                <a:srgbClr val="C00000"/>
              </a:buClr>
              <a:buSzPct val="100000"/>
              <a:buFont typeface="Arial"/>
              <a:buChar char="•"/>
            </a:pPr>
            <a:r>
              <a:rPr lang="vi-VN" sz="1600" b="1" i="0" dirty="0">
                <a:solidFill>
                  <a:srgbClr val="262626"/>
                </a:solidFill>
                <a:latin typeface="Times New Roman"/>
                <a:ea typeface="Times New Roman"/>
                <a:cs typeface="Times New Roman"/>
                <a:sym typeface="Times New Roman"/>
              </a:rPr>
              <a:t xml:space="preserve">Grain 1 giờ:</a:t>
            </a:r>
            <a:r>
              <a:rPr lang="vi-VN" sz="1600" b="0" i="0" dirty="0">
                <a:solidFill>
                  <a:srgbClr val="262626"/>
                </a:solidFill>
                <a:latin typeface="Times New Roman"/>
                <a:ea typeface="Times New Roman"/>
                <a:cs typeface="Times New Roman"/>
                <a:sym typeface="Times New Roman"/>
              </a:rPr>
              <a:t xml:space="preserve"> tốc độ lấy </a:t>
            </a:r>
            <a:r>
              <a:rPr lang="vi-VN" sz="1600" b="1" i="0" dirty="0">
                <a:solidFill>
                  <a:srgbClr val="262626"/>
                </a:solidFill>
                <a:latin typeface="Times New Roman"/>
                <a:ea typeface="Times New Roman"/>
                <a:cs typeface="Times New Roman"/>
                <a:sym typeface="Times New Roman"/>
              </a:rPr>
              <a:t xml:space="preserve">trung bình</a:t>
            </a:r>
            <a:r>
              <a:rPr lang="vi-VN" sz="1600" b="0" i="0" dirty="0">
                <a:solidFill>
                  <a:srgbClr val="262626"/>
                </a:solidFill>
                <a:latin typeface="Times New Roman"/>
                <a:ea typeface="Times New Roman"/>
                <a:cs typeface="Times New Roman"/>
                <a:sym typeface="Times New Roman"/>
              </a:rPr>
              <a:t xml:space="preserve"> (đại lượng trạng thái), lưu lượng lấy </a:t>
            </a:r>
            <a:r>
              <a:rPr lang="vi-VN" sz="1600" b="1" i="0" dirty="0">
                <a:solidFill>
                  <a:srgbClr val="262626"/>
                </a:solidFill>
                <a:latin typeface="Times New Roman"/>
                <a:ea typeface="Times New Roman"/>
                <a:cs typeface="Times New Roman"/>
                <a:sym typeface="Times New Roman"/>
              </a:rPr>
              <a:t xml:space="preserve">tổng</a:t>
            </a:r>
            <a:r>
              <a:rPr lang="vi-VN" sz="1600" b="0" i="0" dirty="0">
                <a:solidFill>
                  <a:srgbClr val="262626"/>
                </a:solidFill>
                <a:latin typeface="Times New Roman"/>
                <a:ea typeface="Times New Roman"/>
                <a:cs typeface="Times New Roman"/>
                <a:sym typeface="Times New Roman"/>
              </a:rPr>
              <a:t xml:space="preserve"> (đại lượng tích lũy)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latin typeface="Times New Roman"/>
                <a:ea typeface="Times New Roman"/>
                <a:cs typeface="Times New Roman"/>
                <a:sym typeface="Times New Roman"/>
              </a:rPr>
              <a:t>Record Linkage: vì sao Levenshtein có precision thấp</a:t>
            </a:r>
          </a:p>
        </p:txBody>
      </p:sp>
      <p:sp>
        <p:nvSpPr>
          <p:cNvPr id="4" name="Ghi chu"/>
          <p:cNvSpPr txBox="1"/>
          <p:nvPr/>
        </p:nvSpPr>
        <p:spPr>
          <a:xfrm>
            <a:off x="228600" y="3429000"/>
            <a:ext cx="8686800" cy="2651760"/>
          </a:xfrm>
          <a:prstGeom prst="rect">
            <a:avLst/>
          </a:prstGeom>
          <a:noFill/>
        </p:spPr>
        <p:txBody>
          <a:bodyPr wrap="square" anchor="t" lIns="0" rIns="0" tIns="0" bIns="0">
            <a:spAutoFit/>
          </a:bodyPr>
          <a:lstStyle/>
          <a:p>
            <a:pPr marL="285750" indent="-285750" algn="l">
              <a:lnSpc>
                <a:spcPct val="95000"/>
              </a:lnSpc>
              <a:spcBef>
                <a:spcPts val="0"/>
              </a:spcBef>
              <a:buClr>
                <a:srgbClr val="C00000"/>
              </a:buClr>
              <a:buSzPct val="100000"/>
              <a:buFont typeface="Arial"/>
              <a:buChar char="•"/>
            </a:pPr>
            <a:r>
              <a:rPr lang="vi-VN" sz="1600" b="1" i="0" dirty="0">
                <a:solidFill>
                  <a:srgbClr val="262626"/>
                </a:solidFill>
                <a:latin typeface="Times New Roman"/>
                <a:ea typeface="Times New Roman"/>
                <a:cs typeface="Times New Roman"/>
                <a:sym typeface="Times New Roman"/>
              </a:rPr>
              <a:t xml:space="preserve">Một ký tự mang toàn bộ ý nghĩa:</a:t>
            </a:r>
            <a:r>
              <a:rPr lang="vi-VN" sz="1600" b="0" i="0" dirty="0">
                <a:solidFill>
                  <a:srgbClr val="262626"/>
                </a:solidFill>
                <a:latin typeface="Times New Roman"/>
                <a:ea typeface="Times New Roman"/>
                <a:cs typeface="Times New Roman"/>
                <a:sym typeface="Times New Roman"/>
              </a:rPr>
              <a:t xml:space="preserve"> </a:t>
            </a:r>
            <a:r>
              <a:rPr lang="vi-VN" sz="1600" b="0" i="0" dirty="0">
                <a:solidFill>
                  <a:srgbClr val="262626"/>
                </a:solidFill>
                <a:latin typeface="Courier New"/>
                <a:ea typeface="Courier New"/>
                <a:cs typeface="Courier New"/>
                <a:sym typeface="Courier New"/>
              </a:rPr>
              <a:t xml:space="preserve">40 STREET</a:t>
            </a:r>
            <a:r>
              <a:rPr lang="vi-VN" sz="1600" b="0" i="0" dirty="0">
                <a:solidFill>
                  <a:srgbClr val="262626"/>
                </a:solidFill>
                <a:latin typeface="Times New Roman"/>
                <a:ea typeface="Times New Roman"/>
                <a:cs typeface="Times New Roman"/>
                <a:sym typeface="Times New Roman"/>
              </a:rPr>
              <a:t xml:space="preserve"> / </a:t>
            </a:r>
            <a:r>
              <a:rPr lang="vi-VN" sz="1600" b="0" i="0" dirty="0">
                <a:solidFill>
                  <a:srgbClr val="262626"/>
                </a:solidFill>
                <a:latin typeface="Courier New"/>
                <a:ea typeface="Courier New"/>
                <a:cs typeface="Courier New"/>
                <a:sym typeface="Courier New"/>
              </a:rPr>
              <a:t xml:space="preserve">90 STREET</a:t>
            </a:r>
            <a:r>
              <a:rPr lang="vi-VN" sz="1600" b="0" i="0" dirty="0">
                <a:solidFill>
                  <a:srgbClr val="262626"/>
                </a:solidFill>
                <a:latin typeface="Times New Roman"/>
                <a:ea typeface="Times New Roman"/>
                <a:cs typeface="Times New Roman"/>
                <a:sym typeface="Times New Roman"/>
              </a:rPr>
              <a:t xml:space="preserve"> (similarity 0,89, cách nhau 50 dãy phố); </a:t>
            </a:r>
            <a:r>
              <a:rPr lang="vi-VN" sz="1600" b="0" i="0" dirty="0">
                <a:solidFill>
                  <a:srgbClr val="262626"/>
                </a:solidFill>
                <a:latin typeface="Courier New"/>
                <a:ea typeface="Courier New"/>
                <a:cs typeface="Courier New"/>
                <a:sym typeface="Courier New"/>
              </a:rPr>
              <a:t xml:space="preserve">EAST</a:t>
            </a:r>
            <a:r>
              <a:rPr lang="vi-VN" sz="1600" b="0" i="0" dirty="0">
                <a:solidFill>
                  <a:srgbClr val="262626"/>
                </a:solidFill>
                <a:latin typeface="Times New Roman"/>
                <a:ea typeface="Times New Roman"/>
                <a:cs typeface="Times New Roman"/>
                <a:sym typeface="Times New Roman"/>
              </a:rPr>
              <a:t xml:space="preserve"> / </a:t>
            </a:r>
            <a:r>
              <a:rPr lang="vi-VN" sz="1600" b="0" i="0" dirty="0">
                <a:solidFill>
                  <a:srgbClr val="262626"/>
                </a:solidFill>
                <a:latin typeface="Courier New"/>
                <a:ea typeface="Courier New"/>
                <a:cs typeface="Courier New"/>
                <a:sym typeface="Courier New"/>
              </a:rPr>
              <a:t xml:space="preserve">WEST 117 STREET</a:t>
            </a:r>
            <a:r>
              <a:rPr lang="vi-VN" sz="1600" b="0" i="0" dirty="0">
                <a:solidFill>
                  <a:srgbClr val="262626"/>
                </a:solidFill>
                <a:latin typeface="Times New Roman"/>
                <a:ea typeface="Times New Roman"/>
                <a:cs typeface="Times New Roman"/>
                <a:sym typeface="Times New Roman"/>
              </a:rPr>
              <a:t xml:space="preserve">; </a:t>
            </a:r>
            <a:r>
              <a:rPr lang="vi-VN" sz="1600" b="0" i="0" dirty="0">
                <a:solidFill>
                  <a:srgbClr val="262626"/>
                </a:solidFill>
                <a:latin typeface="Courier New"/>
                <a:ea typeface="Courier New"/>
                <a:cs typeface="Courier New"/>
                <a:sym typeface="Courier New"/>
              </a:rPr>
              <a:t xml:space="preserve">UPPER</a:t>
            </a:r>
            <a:r>
              <a:rPr lang="vi-VN" sz="1600" b="0" i="0" dirty="0">
                <a:solidFill>
                  <a:srgbClr val="262626"/>
                </a:solidFill>
                <a:latin typeface="Times New Roman"/>
                <a:ea typeface="Times New Roman"/>
                <a:cs typeface="Times New Roman"/>
                <a:sym typeface="Times New Roman"/>
              </a:rPr>
              <a:t xml:space="preserve"> / </a:t>
            </a:r>
            <a:r>
              <a:rPr lang="vi-VN" sz="1600" b="0" i="0" dirty="0">
                <a:solidFill>
                  <a:srgbClr val="262626"/>
                </a:solidFill>
                <a:latin typeface="Courier New"/>
                <a:ea typeface="Courier New"/>
                <a:cs typeface="Courier New"/>
                <a:sym typeface="Courier New"/>
              </a:rPr>
              <a:t xml:space="preserve">LOWER LEVEL</a:t>
            </a:r>
          </a:p>
          <a:p>
            <a:pPr marL="285750" indent="-285750" algn="l">
              <a:lnSpc>
                <a:spcPct val="95000"/>
              </a:lnSpc>
              <a:spcBef>
                <a:spcPts val="900"/>
              </a:spcBef>
              <a:buClr>
                <a:srgbClr val="C00000"/>
              </a:buClr>
              <a:buSzPct val="100000"/>
              <a:buFont typeface="Arial"/>
              <a:buChar char="•"/>
            </a:pPr>
            <a:r>
              <a:rPr lang="vi-VN" sz="1600" b="0" i="0" dirty="0">
                <a:solidFill>
                  <a:srgbClr val="262626"/>
                </a:solidFill>
                <a:latin typeface="Times New Roman"/>
                <a:ea typeface="Times New Roman"/>
                <a:cs typeface="Times New Roman"/>
                <a:sym typeface="Times New Roman"/>
              </a:rPr>
              <a:t xml:space="preserve">Lỗi gõ phổ biến là </a:t>
            </a:r>
            <a:r>
              <a:rPr lang="vi-VN" sz="1600" b="1" i="0" dirty="0">
                <a:solidFill>
                  <a:srgbClr val="262626"/>
                </a:solidFill>
                <a:latin typeface="Times New Roman"/>
                <a:ea typeface="Times New Roman"/>
                <a:cs typeface="Times New Roman"/>
                <a:sym typeface="Times New Roman"/>
              </a:rPr>
              <a:t xml:space="preserve">đảo 2 ký tự</a:t>
            </a:r>
            <a:r>
              <a:rPr lang="vi-VN" sz="1600" b="0" i="0" dirty="0">
                <a:solidFill>
                  <a:srgbClr val="262626"/>
                </a:solidFill>
                <a:latin typeface="Times New Roman"/>
                <a:ea typeface="Times New Roman"/>
                <a:cs typeface="Times New Roman"/>
                <a:sym typeface="Times New Roman"/>
              </a:rPr>
              <a:t xml:space="preserve"> (</a:t>
            </a:r>
            <a:r>
              <a:rPr lang="vi-VN" sz="1600" b="0" i="0" dirty="0">
                <a:solidFill>
                  <a:srgbClr val="262626"/>
                </a:solidFill>
                <a:latin typeface="Courier New"/>
                <a:ea typeface="Courier New"/>
                <a:cs typeface="Courier New"/>
                <a:sym typeface="Courier New"/>
              </a:rPr>
              <a:t xml:space="preserve">WALKER</a:t>
            </a:r>
            <a:r>
              <a:rPr lang="vi-VN" sz="1600" b="0" i="0" dirty="0">
                <a:solidFill>
                  <a:srgbClr val="262626"/>
                </a:solidFill>
                <a:latin typeface="Times New Roman"/>
                <a:ea typeface="Times New Roman"/>
                <a:cs typeface="Times New Roman"/>
                <a:sym typeface="Times New Roman"/>
              </a:rPr>
              <a:t xml:space="preserve"> → </a:t>
            </a:r>
            <a:r>
              <a:rPr lang="vi-VN" sz="1600" b="0" i="0" dirty="0">
                <a:solidFill>
                  <a:srgbClr val="262626"/>
                </a:solidFill>
                <a:latin typeface="Courier New"/>
                <a:ea typeface="Courier New"/>
                <a:cs typeface="Courier New"/>
                <a:sym typeface="Courier New"/>
              </a:rPr>
              <a:t xml:space="preserve">WLAKER</a:t>
            </a:r>
            <a:r>
              <a:rPr lang="vi-VN" sz="1600" b="0" i="0" dirty="0">
                <a:solidFill>
                  <a:srgbClr val="262626"/>
                </a:solidFill>
                <a:latin typeface="Times New Roman"/>
                <a:ea typeface="Times New Roman"/>
                <a:cs typeface="Times New Roman"/>
                <a:sym typeface="Times New Roman"/>
              </a:rPr>
              <a:t xml:space="preserve">): Levenshtein tính 2 phép, OSA tính 1 phép</a:t>
            </a:r>
          </a:p>
          <a:p>
            <a:pPr marL="285750" indent="-285750" algn="l">
              <a:lnSpc>
                <a:spcPct val="95000"/>
              </a:lnSpc>
              <a:spcBef>
                <a:spcPts val="900"/>
              </a:spcBef>
              <a:buClr>
                <a:srgbClr val="C00000"/>
              </a:buClr>
              <a:buSzPct val="100000"/>
              <a:buFont typeface="Arial"/>
              <a:buChar char="•"/>
            </a:pPr>
            <a:r>
              <a:rPr lang="vi-VN" sz="1600" b="0" i="0" dirty="0">
                <a:solidFill>
                  <a:srgbClr val="262626"/>
                </a:solidFill>
                <a:latin typeface="Times New Roman"/>
                <a:ea typeface="Times New Roman"/>
                <a:cs typeface="Times New Roman"/>
                <a:sym typeface="Times New Roman"/>
              </a:rPr>
              <a:t xml:space="preserve">Precision tăng </a:t>
            </a:r>
            <a:r>
              <a:rPr lang="vi-VN" sz="1600" b="1" i="0" dirty="0">
                <a:solidFill>
                  <a:srgbClr val="262626"/>
                </a:solidFill>
                <a:latin typeface="Times New Roman"/>
                <a:ea typeface="Times New Roman"/>
                <a:cs typeface="Times New Roman"/>
                <a:sym typeface="Times New Roman"/>
              </a:rPr>
              <a:t xml:space="preserve">0,015 → 0,833</a:t>
            </a:r>
            <a:r>
              <a:rPr lang="vi-VN" sz="1600" b="0" i="0" dirty="0">
                <a:solidFill>
                  <a:srgbClr val="262626"/>
                </a:solidFill>
                <a:latin typeface="Times New Roman"/>
                <a:ea typeface="Times New Roman"/>
                <a:cs typeface="Times New Roman"/>
                <a:sym typeface="Times New Roman"/>
              </a:rPr>
              <a:t xml:space="preserve">, recall giữ nguyên 1,0</a:t>
            </a:r>
          </a:p>
        </p:txBody>
      </p:sp>
      <p:graphicFrame>
        <p:nvGraphicFramePr>
          <p:cNvPr id="5" name="Table 4"/>
          <p:cNvGraphicFramePr>
            <a:graphicFrameLocks noGrp="1"/>
          </p:cNvGraphicFramePr>
          <p:nvPr/>
        </p:nvGraphicFramePr>
        <p:xfrm>
          <a:off x="228600" y="868680"/>
          <a:ext cx="8686800" cy="2267712"/>
        </p:xfrm>
        <a:graphic>
          <a:graphicData uri="http://schemas.openxmlformats.org/drawingml/2006/table">
            <a:tbl>
              <a:tblPr firstRow="1" bandRow="0"/>
              <a:tblGrid>
                <a:gridCol w="4343400"/>
                <a:gridCol w="944217"/>
                <a:gridCol w="944217"/>
                <a:gridCol w="1321904"/>
                <a:gridCol w="1133062"/>
              </a:tblGrid>
              <a:tr h="566928">
                <a:tc>
                  <a:txBody>
                    <a:bodyPr wrap="square"/>
                    <a:lstStyle/>
                    <a:p>
                      <a:pPr algn="ctr"/>
                      <a:r>
                        <a:rPr lang="vi-VN" sz="1400" b="1" i="0" dirty="0">
                          <a:solidFill>
                            <a:srgbClr val="FFFFFF"/>
                          </a:solidFill>
                          <a:latin typeface="Times New Roman"/>
                          <a:ea typeface="Times New Roman"/>
                          <a:cs typeface="Times New Roman"/>
                          <a:sym typeface="Times New Roman"/>
                        </a:rPr>
                        <a:t xml:space="preserve">Luật quyết định (373 tên, 69.378 cặp)</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c>
                  <a:txBody>
                    <a:bodyPr wrap="square"/>
                    <a:lstStyle/>
                    <a:p>
                      <a:pPr algn="ctr"/>
                      <a:r>
                        <a:rPr lang="vi-VN" sz="1400" b="1" i="0" dirty="0">
                          <a:solidFill>
                            <a:srgbClr val="FFFFFF"/>
                          </a:solidFill>
                          <a:latin typeface="Times New Roman"/>
                          <a:ea typeface="Times New Roman"/>
                          <a:cs typeface="Times New Roman"/>
                          <a:sym typeface="Times New Roman"/>
                        </a:rPr>
                        <a:t xml:space="preserve">Ghép</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c>
                  <a:txBody>
                    <a:bodyPr wrap="square"/>
                    <a:lstStyle/>
                    <a:p>
                      <a:pPr algn="ctr"/>
                      <a:r>
                        <a:rPr lang="vi-VN" sz="1400" b="1" i="0" dirty="0">
                          <a:solidFill>
                            <a:srgbClr val="FFFFFF"/>
                          </a:solidFill>
                          <a:latin typeface="Times New Roman"/>
                          <a:ea typeface="Times New Roman"/>
                          <a:cs typeface="Times New Roman"/>
                          <a:sym typeface="Times New Roman"/>
                        </a:rPr>
                        <a:t xml:space="preserve">Đúng</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c>
                  <a:txBody>
                    <a:bodyPr wrap="square"/>
                    <a:lstStyle/>
                    <a:p>
                      <a:pPr algn="ctr"/>
                      <a:r>
                        <a:rPr lang="vi-VN" sz="1400" b="1" i="0" dirty="0">
                          <a:solidFill>
                            <a:srgbClr val="FFFFFF"/>
                          </a:solidFill>
                          <a:latin typeface="Times New Roman"/>
                          <a:ea typeface="Times New Roman"/>
                          <a:cs typeface="Times New Roman"/>
                          <a:sym typeface="Times New Roman"/>
                        </a:rPr>
                        <a:t xml:space="preserve">Precision</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c>
                  <a:txBody>
                    <a:bodyPr wrap="square"/>
                    <a:lstStyle/>
                    <a:p>
                      <a:pPr algn="ctr"/>
                      <a:r>
                        <a:rPr lang="vi-VN" sz="1400" b="1" i="0" dirty="0">
                          <a:solidFill>
                            <a:srgbClr val="FFFFFF"/>
                          </a:solidFill>
                          <a:latin typeface="Times New Roman"/>
                          <a:ea typeface="Times New Roman"/>
                          <a:cs typeface="Times New Roman"/>
                          <a:sym typeface="Times New Roman"/>
                        </a:rPr>
                        <a:t xml:space="preserve">Recall</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r>
              <a:tr h="566928">
                <a:tc>
                  <a:txBody>
                    <a:bodyPr wrap="square"/>
                    <a:lstStyle/>
                    <a:p>
                      <a:pPr algn="l"/>
                      <a:r>
                        <a:rPr lang="vi-VN" sz="1400" b="1" i="0" dirty="0">
                          <a:solidFill>
                            <a:srgbClr val="262626"/>
                          </a:solidFill>
                          <a:latin typeface="Times New Roman"/>
                          <a:ea typeface="Times New Roman"/>
                          <a:cs typeface="Times New Roman"/>
                          <a:sym typeface="Times New Roman"/>
                        </a:rPr>
                        <a:t xml:space="preserve">A: Levenshtein ≥ 0,8 (luật ban đầu)</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wrap="square"/>
                    <a:lstStyle/>
                    <a:p>
                      <a:pPr algn="ctr"/>
                      <a:r>
                        <a:rPr lang="vi-VN" sz="1400" b="0" i="0" dirty="0">
                          <a:solidFill>
                            <a:srgbClr val="262626"/>
                          </a:solidFill>
                          <a:latin typeface="Times New Roman"/>
                          <a:ea typeface="Times New Roman"/>
                          <a:cs typeface="Times New Roman"/>
                          <a:sym typeface="Times New Roman"/>
                        </a:rPr>
                        <a:t xml:space="preserve">336</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wrap="square"/>
                    <a:lstStyle/>
                    <a:p>
                      <a:pPr algn="ctr"/>
                      <a:r>
                        <a:rPr lang="vi-VN" sz="1400" b="0" i="0" dirty="0">
                          <a:solidFill>
                            <a:srgbClr val="262626"/>
                          </a:solidFill>
                          <a:latin typeface="Times New Roman"/>
                          <a:ea typeface="Times New Roman"/>
                          <a:cs typeface="Times New Roman"/>
                          <a:sym typeface="Times New Roman"/>
                        </a:rPr>
                        <a:t xml:space="preserve">5</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wrap="square"/>
                    <a:lstStyle/>
                    <a:p>
                      <a:pPr algn="ctr"/>
                      <a:r>
                        <a:rPr lang="vi-VN" sz="1400" b="1" i="0" dirty="0">
                          <a:solidFill>
                            <a:srgbClr val="C00000"/>
                          </a:solidFill>
                          <a:latin typeface="Times New Roman"/>
                          <a:ea typeface="Times New Roman"/>
                          <a:cs typeface="Times New Roman"/>
                          <a:sym typeface="Times New Roman"/>
                        </a:rPr>
                        <a:t xml:space="preserve">0,015</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wrap="square"/>
                    <a:lstStyle/>
                    <a:p>
                      <a:pPr algn="ctr"/>
                      <a:r>
                        <a:rPr lang="vi-VN" sz="1400" b="0" i="0" dirty="0">
                          <a:solidFill>
                            <a:srgbClr val="262626"/>
                          </a:solidFill>
                          <a:latin typeface="Times New Roman"/>
                          <a:ea typeface="Times New Roman"/>
                          <a:cs typeface="Times New Roman"/>
                          <a:sym typeface="Times New Roman"/>
                        </a:rPr>
                        <a:t xml:space="preserve">1,0</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r h="566928">
                <a:tc>
                  <a:txBody>
                    <a:bodyPr wrap="square"/>
                    <a:lstStyle/>
                    <a:p>
                      <a:pPr algn="l"/>
                      <a:r>
                        <a:rPr lang="vi-VN" sz="1400" b="1" i="0" dirty="0">
                          <a:solidFill>
                            <a:srgbClr val="262626"/>
                          </a:solidFill>
                          <a:latin typeface="Times New Roman"/>
                          <a:ea typeface="Times New Roman"/>
                          <a:cs typeface="Times New Roman"/>
                          <a:sym typeface="Times New Roman"/>
                        </a:rPr>
                        <a:t xml:space="preserve">B: A + cùng số đường + cùng hướng/tầng/bang</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7ECEC"/>
                    </a:solidFill>
                  </a:tcPr>
                </a:tc>
                <a:tc>
                  <a:txBody>
                    <a:bodyPr wrap="square"/>
                    <a:lstStyle/>
                    <a:p>
                      <a:pPr algn="ctr"/>
                      <a:r>
                        <a:rPr lang="vi-VN" sz="1400" b="0" i="0" dirty="0">
                          <a:solidFill>
                            <a:srgbClr val="262626"/>
                          </a:solidFill>
                          <a:latin typeface="Times New Roman"/>
                          <a:ea typeface="Times New Roman"/>
                          <a:cs typeface="Times New Roman"/>
                          <a:sym typeface="Times New Roman"/>
                        </a:rPr>
                        <a:t xml:space="preserve">13</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7ECEC"/>
                    </a:solidFill>
                  </a:tcPr>
                </a:tc>
                <a:tc>
                  <a:txBody>
                    <a:bodyPr wrap="square"/>
                    <a:lstStyle/>
                    <a:p>
                      <a:pPr algn="ctr"/>
                      <a:r>
                        <a:rPr lang="vi-VN" sz="1400" b="0" i="0" dirty="0">
                          <a:solidFill>
                            <a:srgbClr val="262626"/>
                          </a:solidFill>
                          <a:latin typeface="Times New Roman"/>
                          <a:ea typeface="Times New Roman"/>
                          <a:cs typeface="Times New Roman"/>
                          <a:sym typeface="Times New Roman"/>
                        </a:rPr>
                        <a:t xml:space="preserve">5</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7ECEC"/>
                    </a:solidFill>
                  </a:tcPr>
                </a:tc>
                <a:tc>
                  <a:txBody>
                    <a:bodyPr wrap="square"/>
                    <a:lstStyle/>
                    <a:p>
                      <a:pPr algn="ctr"/>
                      <a:r>
                        <a:rPr lang="vi-VN" sz="1400" b="0" i="0" dirty="0">
                          <a:solidFill>
                            <a:srgbClr val="262626"/>
                          </a:solidFill>
                          <a:latin typeface="Times New Roman"/>
                          <a:ea typeface="Times New Roman"/>
                          <a:cs typeface="Times New Roman"/>
                          <a:sym typeface="Times New Roman"/>
                        </a:rPr>
                        <a:t xml:space="preserve">0,385</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7ECEC"/>
                    </a:solidFill>
                  </a:tcPr>
                </a:tc>
                <a:tc>
                  <a:txBody>
                    <a:bodyPr wrap="square"/>
                    <a:lstStyle/>
                    <a:p>
                      <a:pPr algn="ctr"/>
                      <a:r>
                        <a:rPr lang="vi-VN" sz="1400" b="0" i="0" dirty="0">
                          <a:solidFill>
                            <a:srgbClr val="262626"/>
                          </a:solidFill>
                          <a:latin typeface="Times New Roman"/>
                          <a:ea typeface="Times New Roman"/>
                          <a:cs typeface="Times New Roman"/>
                          <a:sym typeface="Times New Roman"/>
                        </a:rPr>
                        <a:t xml:space="preserve">1,0</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7ECEC"/>
                    </a:solidFill>
                  </a:tcPr>
                </a:tc>
              </a:tr>
              <a:tr h="566928">
                <a:tc>
                  <a:txBody>
                    <a:bodyPr wrap="square"/>
                    <a:lstStyle/>
                    <a:p>
                      <a:pPr algn="l"/>
                      <a:r>
                        <a:rPr lang="vi-VN" sz="1400" b="1" i="0" dirty="0">
                          <a:solidFill>
                            <a:srgbClr val="262626"/>
                          </a:solidFill>
                          <a:latin typeface="Times New Roman"/>
                          <a:ea typeface="Times New Roman"/>
                          <a:cs typeface="Times New Roman"/>
                          <a:sym typeface="Times New Roman"/>
                        </a:rPr>
                        <a:t xml:space="preserve">C: B với OSA (Damerau–Levenshtein), bỏ khoảng trắng, ngưỡng 0,88</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2C9C9"/>
                    </a:solidFill>
                  </a:tcPr>
                </a:tc>
                <a:tc>
                  <a:txBody>
                    <a:bodyPr wrap="square"/>
                    <a:lstStyle/>
                    <a:p>
                      <a:pPr algn="ctr"/>
                      <a:r>
                        <a:rPr lang="vi-VN" sz="1400" b="1" i="0" dirty="0">
                          <a:solidFill>
                            <a:srgbClr val="262626"/>
                          </a:solidFill>
                          <a:latin typeface="Times New Roman"/>
                          <a:ea typeface="Times New Roman"/>
                          <a:cs typeface="Times New Roman"/>
                          <a:sym typeface="Times New Roman"/>
                        </a:rPr>
                        <a:t xml:space="preserve">6</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2C9C9"/>
                    </a:solidFill>
                  </a:tcPr>
                </a:tc>
                <a:tc>
                  <a:txBody>
                    <a:bodyPr wrap="square"/>
                    <a:lstStyle/>
                    <a:p>
                      <a:pPr algn="ctr"/>
                      <a:r>
                        <a:rPr lang="vi-VN" sz="1400" b="1" i="0" dirty="0">
                          <a:solidFill>
                            <a:srgbClr val="262626"/>
                          </a:solidFill>
                          <a:latin typeface="Times New Roman"/>
                          <a:ea typeface="Times New Roman"/>
                          <a:cs typeface="Times New Roman"/>
                          <a:sym typeface="Times New Roman"/>
                        </a:rPr>
                        <a:t xml:space="preserve">5</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2C9C9"/>
                    </a:solidFill>
                  </a:tcPr>
                </a:tc>
                <a:tc>
                  <a:txBody>
                    <a:bodyPr wrap="square"/>
                    <a:lstStyle/>
                    <a:p>
                      <a:pPr algn="ctr"/>
                      <a:r>
                        <a:rPr lang="vi-VN" sz="1400" b="1" i="0" dirty="0">
                          <a:solidFill>
                            <a:srgbClr val="C00000"/>
                          </a:solidFill>
                          <a:latin typeface="Times New Roman"/>
                          <a:ea typeface="Times New Roman"/>
                          <a:cs typeface="Times New Roman"/>
                          <a:sym typeface="Times New Roman"/>
                        </a:rPr>
                        <a:t xml:space="preserve">0,833</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2C9C9"/>
                    </a:solidFill>
                  </a:tcPr>
                </a:tc>
                <a:tc>
                  <a:txBody>
                    <a:bodyPr wrap="square"/>
                    <a:lstStyle/>
                    <a:p>
                      <a:pPr algn="ctr"/>
                      <a:r>
                        <a:rPr lang="vi-VN" sz="1400" b="1" i="0" dirty="0">
                          <a:solidFill>
                            <a:srgbClr val="262626"/>
                          </a:solidFill>
                          <a:latin typeface="Times New Roman"/>
                          <a:ea typeface="Times New Roman"/>
                          <a:cs typeface="Times New Roman"/>
                          <a:sym typeface="Times New Roman"/>
                        </a:rPr>
                        <a:t xml:space="preserve">1,0</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2C9C9"/>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1"/>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Times New Roman"/>
              <a:buNone/>
            </a:pPr>
            <a:r>
              <a:rPr b="1" lang="en-US" sz="2400">
                <a:solidFill>
                  <a:schemeClr val="dk1"/>
                </a:solidFill>
                <a:latin typeface="Times New Roman"/>
                <a:ea typeface="Times New Roman"/>
                <a:cs typeface="Times New Roman"/>
                <a:sym typeface="Times New Roman"/>
              </a:rPr>
              <a:t>Blocking và nối hai nguồn giao thông</a:t>
            </a:r>
            <a:endParaRPr/>
          </a:p>
        </p:txBody>
      </p:sp>
      <p:sp>
        <p:nvSpPr>
          <p:cNvPr id="146" name="Google Shape;146;p11"/>
          <p:cNvSpPr txBox="1"/>
          <p:nvPr/>
        </p:nvSpPr>
        <p:spPr>
          <a:xfrm>
            <a:off x="228600" y="3063240"/>
            <a:ext cx="8686800" cy="3017520"/>
          </a:xfrm>
          <a:prstGeom prst="rect">
            <a:avLst/>
          </a:prstGeom>
          <a:noFill/>
          <a:ln>
            <a:noFill/>
          </a:ln>
        </p:spPr>
        <p:txBody>
          <a:bodyPr anchorCtr="0" anchor="t" bIns="45700" lIns="91425" spcFirstLastPara="1" rIns="91425" wrap="square" tIns="45700">
            <a:spAutoFit/>
          </a:bodyPr>
          <a:lstStyle/>
          <a:p>
            <a:pPr marL="285750" indent="-285750" algn="l">
              <a:lnSpc>
                <a:spcPct val="95000"/>
              </a:lnSpc>
              <a:spcBef>
                <a:spcPts val="0"/>
              </a:spcBef>
              <a:buClr>
                <a:srgbClr val="C00000"/>
              </a:buClr>
              <a:buSzPct val="100000"/>
              <a:buFont typeface="Arial"/>
              <a:buChar char="•"/>
            </a:pPr>
            <a:r>
              <a:rPr lang="vi-VN" sz="1600" b="0" i="0" dirty="0">
                <a:solidFill>
                  <a:srgbClr val="262626"/>
                </a:solidFill>
                <a:latin typeface="Times New Roman"/>
                <a:ea typeface="Times New Roman"/>
                <a:cs typeface="Times New Roman"/>
                <a:sym typeface="Times New Roman"/>
              </a:rPr>
              <a:t xml:space="preserve">Nối điểm đếm ↔ tuyến tốc độ: tên đường chính giống nhau </a:t>
            </a:r>
            <a:r>
              <a:rPr lang="vi-VN" sz="1600" b="1" i="0" dirty="0">
                <a:solidFill>
                  <a:srgbClr val="262626"/>
                </a:solidFill>
                <a:latin typeface="Times New Roman"/>
                <a:ea typeface="Times New Roman"/>
                <a:cs typeface="Times New Roman"/>
                <a:sym typeface="Times New Roman"/>
              </a:rPr>
              <a:t xml:space="preserve">và</a:t>
            </a:r>
            <a:r>
              <a:rPr lang="vi-VN" sz="1600" b="0" i="0" dirty="0">
                <a:solidFill>
                  <a:srgbClr val="262626"/>
                </a:solidFill>
                <a:latin typeface="Times New Roman"/>
                <a:ea typeface="Times New Roman"/>
                <a:cs typeface="Times New Roman"/>
                <a:sym typeface="Times New Roman"/>
              </a:rPr>
              <a:t xml:space="preserve"> khoảng cách tới </a:t>
            </a:r>
            <a:r>
              <a:rPr lang="vi-VN" sz="1600" b="1" i="0" dirty="0">
                <a:solidFill>
                  <a:srgbClr val="262626"/>
                </a:solidFill>
                <a:latin typeface="Times New Roman"/>
                <a:ea typeface="Times New Roman"/>
                <a:cs typeface="Times New Roman"/>
                <a:sym typeface="Times New Roman"/>
              </a:rPr>
              <a:t xml:space="preserve">polyline</a:t>
            </a:r>
            <a:r>
              <a:rPr lang="vi-VN" sz="1600" b="0" i="0" dirty="0">
                <a:solidFill>
                  <a:srgbClr val="262626"/>
                </a:solidFill>
                <a:latin typeface="Times New Roman"/>
                <a:ea typeface="Times New Roman"/>
                <a:cs typeface="Times New Roman"/>
                <a:sym typeface="Times New Roman"/>
              </a:rPr>
              <a:t xml:space="preserve"> ≤ 300 m; blocking theo quận RR 0,81</a:t>
            </a:r>
          </a:p>
          <a:p>
            <a:pPr marL="285750" indent="-285750" algn="l">
              <a:lnSpc>
                <a:spcPct val="95000"/>
              </a:lnSpc>
              <a:spcBef>
                <a:spcPts val="900"/>
              </a:spcBef>
              <a:buClr>
                <a:srgbClr val="C00000"/>
              </a:buClr>
              <a:buSzPct val="100000"/>
              <a:buFont typeface="Arial"/>
              <a:buChar char="•"/>
            </a:pPr>
            <a:r>
              <a:rPr lang="vi-VN" sz="1600" b="0" i="0" dirty="0">
                <a:solidFill>
                  <a:srgbClr val="262626"/>
                </a:solidFill>
                <a:latin typeface="Times New Roman"/>
                <a:ea typeface="Times New Roman"/>
                <a:cs typeface="Times New Roman"/>
                <a:sym typeface="Times New Roman"/>
              </a:rPr>
              <a:t xml:space="preserve">Đo tới tâm tuyến: "cách 5,5 km"; đo tới polyline: </a:t>
            </a:r>
            <a:r>
              <a:rPr lang="vi-VN" sz="1600" b="1" i="0" dirty="0">
                <a:solidFill>
                  <a:srgbClr val="C00000"/>
                </a:solidFill>
                <a:latin typeface="Times New Roman"/>
                <a:ea typeface="Times New Roman"/>
                <a:cs typeface="Times New Roman"/>
                <a:sym typeface="Times New Roman"/>
              </a:rPr>
              <a:t xml:space="preserve">11,6 m</a:t>
            </a:r>
          </a:p>
          <a:p>
            <a:pPr marL="285750" indent="-285750" algn="l">
              <a:lnSpc>
                <a:spcPct val="95000"/>
              </a:lnSpc>
              <a:spcBef>
                <a:spcPts val="900"/>
              </a:spcBef>
              <a:buClr>
                <a:srgbClr val="C00000"/>
              </a:buClr>
              <a:buSzPct val="100000"/>
              <a:buFont typeface="Arial"/>
              <a:buChar char="•"/>
            </a:pPr>
            <a:r>
              <a:rPr lang="vi-VN" sz="1600" b="0" i="0" dirty="0">
                <a:solidFill>
                  <a:srgbClr val="262626"/>
                </a:solidFill>
                <a:latin typeface="Times New Roman"/>
                <a:ea typeface="Times New Roman"/>
                <a:cs typeface="Times New Roman"/>
                <a:sym typeface="Times New Roman"/>
              </a:rPr>
              <a:t xml:space="preserve">Trung thực: chỉ </a:t>
            </a:r>
            <a:r>
              <a:rPr lang="vi-VN" sz="1600" b="1" i="0" dirty="0">
                <a:solidFill>
                  <a:srgbClr val="262626"/>
                </a:solidFill>
                <a:latin typeface="Times New Roman"/>
                <a:ea typeface="Times New Roman"/>
                <a:cs typeface="Times New Roman"/>
                <a:sym typeface="Times New Roman"/>
              </a:rPr>
              <a:t xml:space="preserve">2/104</a:t>
            </a:r>
            <a:r>
              <a:rPr lang="vi-VN" sz="1600" b="0" i="0" dirty="0">
                <a:solidFill>
                  <a:srgbClr val="262626"/>
                </a:solidFill>
                <a:latin typeface="Times New Roman"/>
                <a:ea typeface="Times New Roman"/>
                <a:cs typeface="Times New Roman"/>
                <a:sym typeface="Times New Roman"/>
              </a:rPr>
              <a:t xml:space="preserve"> đoạn có cả hai nguồn (tốc độ đo ở cao tốc, lưu lượng đếm ở phố)</a:t>
            </a:r>
          </a:p>
          <a:p>
            <a:pPr marL="285750" indent="-285750" algn="l">
              <a:lnSpc>
                <a:spcPct val="95000"/>
              </a:lnSpc>
              <a:spcBef>
                <a:spcPts val="900"/>
              </a:spcBef>
              <a:buClr>
                <a:srgbClr val="C00000"/>
              </a:buClr>
              <a:buSzPct val="100000"/>
              <a:buFont typeface="Arial"/>
              <a:buChar char="•"/>
            </a:pPr>
            <a:r>
              <a:rPr lang="vi-VN" sz="1600" b="0" i="0" dirty="0">
                <a:solidFill>
                  <a:srgbClr val="262626"/>
                </a:solidFill>
                <a:latin typeface="Times New Roman"/>
                <a:ea typeface="Times New Roman"/>
                <a:cs typeface="Times New Roman"/>
                <a:sym typeface="Times New Roman"/>
              </a:rPr>
              <a:t xml:space="preserve">Trên BQE: tương quan lưu lượng – tốc độ </a:t>
            </a:r>
            <a:r>
              <a:rPr lang="vi-VN" sz="1600" b="1" i="0" dirty="0">
                <a:solidFill>
                  <a:srgbClr val="262626"/>
                </a:solidFill>
                <a:latin typeface="Times New Roman"/>
                <a:ea typeface="Times New Roman"/>
                <a:cs typeface="Times New Roman"/>
                <a:sym typeface="Times New Roman"/>
              </a:rPr>
              <a:t xml:space="preserve">−0,67</a:t>
            </a:r>
          </a:p>
        </p:txBody>
      </p:sp>
      <p:graphicFrame>
        <p:nvGraphicFramePr>
          <p:cNvPr id="147" name="Table 146"/>
          <p:cNvGraphicFramePr>
            <a:graphicFrameLocks noGrp="1"/>
          </p:cNvGraphicFramePr>
          <p:nvPr/>
        </p:nvGraphicFramePr>
        <p:xfrm>
          <a:off x="228600" y="868680"/>
          <a:ext cx="8686800" cy="2011680"/>
        </p:xfrm>
        <a:graphic>
          <a:graphicData uri="http://schemas.openxmlformats.org/drawingml/2006/table">
            <a:tbl>
              <a:tblPr firstRow="1" bandRow="0"/>
              <a:tblGrid>
                <a:gridCol w="2743200"/>
                <a:gridCol w="1463040"/>
                <a:gridCol w="1828800"/>
                <a:gridCol w="2651760"/>
              </a:tblGrid>
              <a:tr h="502920">
                <a:tc>
                  <a:txBody>
                    <a:bodyPr wrap="square"/>
                    <a:lstStyle/>
                    <a:p>
                      <a:pPr algn="ctr"/>
                      <a:r>
                        <a:rPr lang="vi-VN" sz="1500" b="1" i="0" dirty="0">
                          <a:solidFill>
                            <a:srgbClr val="FFFFFF"/>
                          </a:solidFill>
                          <a:latin typeface="Times New Roman"/>
                          <a:ea typeface="Times New Roman"/>
                          <a:cs typeface="Times New Roman"/>
                          <a:sym typeface="Times New Roman"/>
                        </a:rPr>
                        <a:t xml:space="preserve">Khóa blocking</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c>
                  <a:txBody>
                    <a:bodyPr wrap="square"/>
                    <a:lstStyle/>
                    <a:p>
                      <a:pPr algn="ctr"/>
                      <a:r>
                        <a:rPr lang="vi-VN" sz="1500" b="1" i="0" dirty="0">
                          <a:solidFill>
                            <a:srgbClr val="FFFFFF"/>
                          </a:solidFill>
                          <a:latin typeface="Times New Roman"/>
                          <a:ea typeface="Times New Roman"/>
                          <a:cs typeface="Times New Roman"/>
                          <a:sym typeface="Times New Roman"/>
                        </a:rPr>
                        <a:t xml:space="preserve">Số cặp</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c>
                  <a:txBody>
                    <a:bodyPr wrap="square"/>
                    <a:lstStyle/>
                    <a:p>
                      <a:pPr algn="ctr"/>
                      <a:r>
                        <a:rPr lang="vi-VN" sz="1500" b="1" i="0" dirty="0">
                          <a:solidFill>
                            <a:srgbClr val="FFFFFF"/>
                          </a:solidFill>
                          <a:latin typeface="Times New Roman"/>
                          <a:ea typeface="Times New Roman"/>
                          <a:cs typeface="Times New Roman"/>
                          <a:sym typeface="Times New Roman"/>
                        </a:rPr>
                        <a:t xml:space="preserve">Reduction ratio</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c>
                  <a:txBody>
                    <a:bodyPr wrap="square"/>
                    <a:lstStyle/>
                    <a:p>
                      <a:pPr algn="ctr"/>
                      <a:r>
                        <a:rPr lang="vi-VN" sz="1500" b="1" i="0" dirty="0">
                          <a:solidFill>
                            <a:srgbClr val="FFFFFF"/>
                          </a:solidFill>
                          <a:latin typeface="Times New Roman"/>
                          <a:ea typeface="Times New Roman"/>
                          <a:cs typeface="Times New Roman"/>
                          <a:sym typeface="Times New Roman"/>
                        </a:rPr>
                        <a:t xml:space="preserve">Pair completeness</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r>
              <a:tr h="502920">
                <a:tc>
                  <a:txBody>
                    <a:bodyPr wrap="square"/>
                    <a:lstStyle/>
                    <a:p>
                      <a:pPr algn="l"/>
                      <a:r>
                        <a:rPr lang="vi-VN" sz="1500" b="1" i="0" dirty="0">
                          <a:solidFill>
                            <a:srgbClr val="262626"/>
                          </a:solidFill>
                          <a:latin typeface="Times New Roman"/>
                          <a:ea typeface="Times New Roman"/>
                          <a:cs typeface="Times New Roman"/>
                          <a:sym typeface="Times New Roman"/>
                        </a:rPr>
                        <a:t xml:space="preserve">Không blocking</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wrap="square"/>
                    <a:lstStyle/>
                    <a:p>
                      <a:pPr algn="ctr"/>
                      <a:r>
                        <a:rPr lang="vi-VN" sz="1500" b="0" i="0" dirty="0">
                          <a:solidFill>
                            <a:srgbClr val="262626"/>
                          </a:solidFill>
                          <a:latin typeface="Times New Roman"/>
                          <a:ea typeface="Times New Roman"/>
                          <a:cs typeface="Times New Roman"/>
                          <a:sym typeface="Times New Roman"/>
                        </a:rPr>
                        <a:t xml:space="preserve">69.378</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wrap="square"/>
                    <a:lstStyle/>
                    <a:p>
                      <a:pPr algn="ctr"/>
                      <a:r>
                        <a:rPr lang="vi-VN" sz="1500" b="0" i="0" dirty="0">
                          <a:solidFill>
                            <a:srgbClr val="262626"/>
                          </a:solidFill>
                          <a:latin typeface="Times New Roman"/>
                          <a:ea typeface="Times New Roman"/>
                          <a:cs typeface="Times New Roman"/>
                          <a:sym typeface="Times New Roman"/>
                        </a:rPr>
                        <a:t xml:space="preserve">0</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wrap="square"/>
                    <a:lstStyle/>
                    <a:p>
                      <a:pPr algn="ctr"/>
                      <a:r>
                        <a:rPr lang="vi-VN" sz="1500" b="0" i="0" dirty="0">
                          <a:solidFill>
                            <a:srgbClr val="262626"/>
                          </a:solidFill>
                          <a:latin typeface="Times New Roman"/>
                          <a:ea typeface="Times New Roman"/>
                          <a:cs typeface="Times New Roman"/>
                          <a:sym typeface="Times New Roman"/>
                        </a:rPr>
                        <a:t xml:space="preserve">1,000</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r h="502920">
                <a:tc>
                  <a:txBody>
                    <a:bodyPr wrap="square"/>
                    <a:lstStyle/>
                    <a:p>
                      <a:pPr algn="l"/>
                      <a:r>
                        <a:rPr lang="vi-VN" sz="1500" b="1" i="0" dirty="0">
                          <a:solidFill>
                            <a:srgbClr val="262626"/>
                          </a:solidFill>
                          <a:latin typeface="Times New Roman"/>
                          <a:ea typeface="Times New Roman"/>
                          <a:cs typeface="Times New Roman"/>
                          <a:sym typeface="Times New Roman"/>
                        </a:rPr>
                        <a:t xml:space="preserve">Chữ cái đầu (chọn)</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2C9C9"/>
                    </a:solidFill>
                  </a:tcPr>
                </a:tc>
                <a:tc>
                  <a:txBody>
                    <a:bodyPr wrap="square"/>
                    <a:lstStyle/>
                    <a:p>
                      <a:pPr algn="ctr"/>
                      <a:r>
                        <a:rPr lang="vi-VN" sz="1500" b="1" i="0" dirty="0">
                          <a:solidFill>
                            <a:srgbClr val="262626"/>
                          </a:solidFill>
                          <a:latin typeface="Times New Roman"/>
                          <a:ea typeface="Times New Roman"/>
                          <a:cs typeface="Times New Roman"/>
                          <a:sym typeface="Times New Roman"/>
                        </a:rPr>
                        <a:t xml:space="preserve">3.258</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2C9C9"/>
                    </a:solidFill>
                  </a:tcPr>
                </a:tc>
                <a:tc>
                  <a:txBody>
                    <a:bodyPr wrap="square"/>
                    <a:lstStyle/>
                    <a:p>
                      <a:pPr algn="ctr"/>
                      <a:r>
                        <a:rPr lang="vi-VN" sz="1500" b="1" i="0" dirty="0">
                          <a:solidFill>
                            <a:srgbClr val="C00000"/>
                          </a:solidFill>
                          <a:latin typeface="Times New Roman"/>
                          <a:ea typeface="Times New Roman"/>
                          <a:cs typeface="Times New Roman"/>
                          <a:sym typeface="Times New Roman"/>
                        </a:rPr>
                        <a:t xml:space="preserve">0,953</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2C9C9"/>
                    </a:solidFill>
                  </a:tcPr>
                </a:tc>
                <a:tc>
                  <a:txBody>
                    <a:bodyPr wrap="square"/>
                    <a:lstStyle/>
                    <a:p>
                      <a:pPr algn="ctr"/>
                      <a:r>
                        <a:rPr lang="vi-VN" sz="1500" b="1" i="0" dirty="0">
                          <a:solidFill>
                            <a:srgbClr val="C00000"/>
                          </a:solidFill>
                          <a:latin typeface="Times New Roman"/>
                          <a:ea typeface="Times New Roman"/>
                          <a:cs typeface="Times New Roman"/>
                          <a:sym typeface="Times New Roman"/>
                        </a:rPr>
                        <a:t xml:space="preserve">1,000</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2C9C9"/>
                    </a:solidFill>
                  </a:tcPr>
                </a:tc>
              </a:tr>
              <a:tr h="502920">
                <a:tc>
                  <a:txBody>
                    <a:bodyPr wrap="square"/>
                    <a:lstStyle/>
                    <a:p>
                      <a:pPr algn="l"/>
                      <a:r>
                        <a:rPr lang="vi-VN" sz="1500" b="1" i="0" dirty="0">
                          <a:solidFill>
                            <a:srgbClr val="262626"/>
                          </a:solidFill>
                          <a:latin typeface="Times New Roman"/>
                          <a:ea typeface="Times New Roman"/>
                          <a:cs typeface="Times New Roman"/>
                          <a:sym typeface="Times New Roman"/>
                        </a:rPr>
                        <a:t xml:space="preserve">2 chữ cái đầu</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wrap="square"/>
                    <a:lstStyle/>
                    <a:p>
                      <a:pPr algn="ctr"/>
                      <a:r>
                        <a:rPr lang="vi-VN" sz="1500" b="0" i="0" dirty="0">
                          <a:solidFill>
                            <a:srgbClr val="262626"/>
                          </a:solidFill>
                          <a:latin typeface="Times New Roman"/>
                          <a:ea typeface="Times New Roman"/>
                          <a:cs typeface="Times New Roman"/>
                          <a:sym typeface="Times New Roman"/>
                        </a:rPr>
                        <a:t xml:space="preserve">985</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wrap="square"/>
                    <a:lstStyle/>
                    <a:p>
                      <a:pPr algn="ctr"/>
                      <a:r>
                        <a:rPr lang="vi-VN" sz="1500" b="0" i="0" dirty="0">
                          <a:solidFill>
                            <a:srgbClr val="262626"/>
                          </a:solidFill>
                          <a:latin typeface="Times New Roman"/>
                          <a:ea typeface="Times New Roman"/>
                          <a:cs typeface="Times New Roman"/>
                          <a:sym typeface="Times New Roman"/>
                        </a:rPr>
                        <a:t xml:space="preserve">0,986</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wrap="square"/>
                    <a:lstStyle/>
                    <a:p>
                      <a:pPr algn="ctr"/>
                      <a:r>
                        <a:rPr lang="vi-VN" sz="1500" b="0" i="0" dirty="0">
                          <a:solidFill>
                            <a:srgbClr val="262626"/>
                          </a:solidFill>
                          <a:latin typeface="Times New Roman"/>
                          <a:ea typeface="Times New Roman"/>
                          <a:cs typeface="Times New Roman"/>
                          <a:sym typeface="Times New Roman"/>
                        </a:rPr>
                        <a:t xml:space="preserve">0,833 (bỏ lỡ </a:t>
                      </a:r>
                      <a:r>
                        <a:rPr lang="vi-VN" sz="1500" b="0" i="0" dirty="0">
                          <a:solidFill>
                            <a:srgbClr val="262626"/>
                          </a:solidFill>
                          <a:latin typeface="Courier New"/>
                          <a:ea typeface="Courier New"/>
                          <a:cs typeface="Courier New"/>
                          <a:sym typeface="Courier New"/>
                        </a:rPr>
                        <a:t xml:space="preserve">WALKER ~ WLAKER</a:t>
                      </a:r>
                      <a:r>
                        <a:rPr lang="vi-VN" sz="1500" b="0" i="0" dirty="0">
                          <a:solidFill>
                            <a:srgbClr val="262626"/>
                          </a:solidFill>
                          <a:latin typeface="Times New Roman"/>
                          <a:ea typeface="Times New Roman"/>
                          <a:cs typeface="Times New Roman"/>
                          <a:sym typeface="Times New Roman"/>
                        </a:rPr>
                        <a:t xml:space="preserve">)</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latin typeface="Times New Roman"/>
                <a:ea typeface="Times New Roman"/>
                <a:cs typeface="Times New Roman"/>
                <a:sym typeface="Times New Roman"/>
              </a:rPr>
              <a:t>Bảng tích hợp và Data Contract</a:t>
            </a:r>
          </a:p>
        </p:txBody>
      </p:sp>
      <p:sp>
        <p:nvSpPr>
          <p:cNvPr id="3" name="Buoc 1"/>
          <p:cNvSpPr/>
          <p:nvPr/>
        </p:nvSpPr>
        <p:spPr>
          <a:xfrm>
            <a:off x="150000" y="960000"/>
            <a:ext cx="1696800" cy="1250000"/>
          </a:xfrm>
          <a:prstGeom prst="homePlat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i="0">
                <a:solidFill>
                  <a:srgbClr val="FFFFFF"/>
                </a:solidFill>
                <a:latin typeface="Times New Roman"/>
                <a:ea typeface="Times New Roman"/>
                <a:cs typeface="Times New Roman"/>
                <a:sym typeface="Times New Roman"/>
              </a:rPr>
              <a:t>1</a:t>
            </a:r>
          </a:p>
          <a:p>
            <a:pPr algn="ctr"/>
            <a:r>
              <a:rPr sz="1400" b="0" i="0">
                <a:solidFill>
                  <a:srgbClr val="FFFFFF"/>
                </a:solidFill>
                <a:latin typeface="Times New Roman"/>
                <a:ea typeface="Times New Roman"/>
                <a:cs typeface="Times New Roman"/>
                <a:sym typeface="Times New Roman"/>
              </a:rPr>
              <a:t>Đầu ra Phase 1</a:t>
            </a:r>
          </a:p>
        </p:txBody>
      </p:sp>
      <p:sp>
        <p:nvSpPr>
          <p:cNvPr id="4" name="Buoc 2"/>
          <p:cNvSpPr/>
          <p:nvPr/>
        </p:nvSpPr>
        <p:spPr>
          <a:xfrm>
            <a:off x="1936800" y="960000"/>
            <a:ext cx="1696800" cy="1250000"/>
          </a:xfrm>
          <a:prstGeom prst="homePlat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i="0">
                <a:solidFill>
                  <a:srgbClr val="FFFFFF"/>
                </a:solidFill>
                <a:latin typeface="Times New Roman"/>
                <a:ea typeface="Times New Roman"/>
                <a:cs typeface="Times New Roman"/>
                <a:sym typeface="Times New Roman"/>
              </a:rPr>
              <a:t>2</a:t>
            </a:r>
          </a:p>
          <a:p>
            <a:pPr algn="ctr"/>
            <a:r>
              <a:rPr sz="1400" b="0" i="0">
                <a:solidFill>
                  <a:srgbClr val="FFFFFF"/>
                </a:solidFill>
                <a:latin typeface="Times New Roman"/>
                <a:ea typeface="Times New Roman"/>
                <a:cs typeface="Times New Roman"/>
                <a:sym typeface="Times New Roman"/>
              </a:rPr>
              <a:t>Schema Spark</a:t>
            </a:r>
          </a:p>
        </p:txBody>
      </p:sp>
      <p:sp>
        <p:nvSpPr>
          <p:cNvPr id="5" name="Buoc 3"/>
          <p:cNvSpPr/>
          <p:nvPr/>
        </p:nvSpPr>
        <p:spPr>
          <a:xfrm>
            <a:off x="3723600" y="960000"/>
            <a:ext cx="1696800" cy="1250000"/>
          </a:xfrm>
          <a:prstGeom prst="homePlat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i="0">
                <a:solidFill>
                  <a:srgbClr val="FFFFFF"/>
                </a:solidFill>
                <a:latin typeface="Times New Roman"/>
                <a:ea typeface="Times New Roman"/>
                <a:cs typeface="Times New Roman"/>
                <a:sym typeface="Times New Roman"/>
              </a:rPr>
              <a:t>3</a:t>
            </a:r>
          </a:p>
          <a:p>
            <a:pPr algn="ctr"/>
            <a:r>
              <a:rPr sz="1400" b="0" i="0">
                <a:solidFill>
                  <a:srgbClr val="FFFFFF"/>
                </a:solidFill>
                <a:latin typeface="Times New Roman"/>
                <a:ea typeface="Times New Roman"/>
                <a:cs typeface="Times New Roman"/>
                <a:sym typeface="Times New Roman"/>
              </a:rPr>
              <a:t>CHECK của PostgreSQL</a:t>
            </a:r>
          </a:p>
        </p:txBody>
      </p:sp>
      <p:sp>
        <p:nvSpPr>
          <p:cNvPr id="6" name="Buoc 4"/>
          <p:cNvSpPr/>
          <p:nvPr/>
        </p:nvSpPr>
        <p:spPr>
          <a:xfrm>
            <a:off x="5510400" y="960000"/>
            <a:ext cx="1696800" cy="1250000"/>
          </a:xfrm>
          <a:prstGeom prst="homePlat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i="0">
                <a:solidFill>
                  <a:srgbClr val="FFFFFF"/>
                </a:solidFill>
                <a:latin typeface="Times New Roman"/>
                <a:ea typeface="Times New Roman"/>
                <a:cs typeface="Times New Roman"/>
                <a:sym typeface="Times New Roman"/>
              </a:rPr>
              <a:t>4</a:t>
            </a:r>
          </a:p>
          <a:p>
            <a:pPr algn="ctr"/>
            <a:r>
              <a:rPr sz="1400" b="0" i="0">
                <a:solidFill>
                  <a:srgbClr val="FFFFFF"/>
                </a:solidFill>
                <a:latin typeface="Times New Roman"/>
                <a:ea typeface="Times New Roman"/>
                <a:cs typeface="Times New Roman"/>
                <a:sym typeface="Times New Roman"/>
              </a:rPr>
              <a:t>Kiểm tra import qua API</a:t>
            </a:r>
          </a:p>
        </p:txBody>
      </p:sp>
      <p:sp>
        <p:nvSpPr>
          <p:cNvPr id="7" name="Buoc 5"/>
          <p:cNvSpPr/>
          <p:nvPr/>
        </p:nvSpPr>
        <p:spPr>
          <a:xfrm>
            <a:off x="7297200" y="960000"/>
            <a:ext cx="1696800" cy="12500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i="0">
                <a:solidFill>
                  <a:srgbClr val="FFFFFF"/>
                </a:solidFill>
                <a:latin typeface="Times New Roman"/>
                <a:ea typeface="Times New Roman"/>
                <a:cs typeface="Times New Roman"/>
                <a:sym typeface="Times New Roman"/>
              </a:rPr>
              <a:t>5</a:t>
            </a:r>
          </a:p>
          <a:p>
            <a:pPr algn="ctr"/>
            <a:r>
              <a:rPr sz="1400" b="0" i="0">
                <a:solidFill>
                  <a:srgbClr val="FFFFFF"/>
                </a:solidFill>
                <a:latin typeface="Times New Roman"/>
                <a:ea typeface="Times New Roman"/>
                <a:cs typeface="Times New Roman"/>
                <a:sym typeface="Times New Roman"/>
              </a:rPr>
              <a:t>Mock dataset</a:t>
            </a:r>
          </a:p>
        </p:txBody>
      </p:sp>
      <p:sp>
        <p:nvSpPr>
          <p:cNvPr id="9" name="TextBox 8"/>
          <p:cNvSpPr txBox="1"/>
          <p:nvPr/>
        </p:nvSpPr>
        <p:spPr>
          <a:xfrm>
            <a:off x="228600" y="3520440"/>
            <a:ext cx="8686800" cy="2560320"/>
          </a:xfrm>
          <a:prstGeom prst="rect">
            <a:avLst/>
          </a:prstGeom>
          <a:noFill/>
        </p:spPr>
        <p:txBody>
          <a:bodyPr wrap="square" lIns="0" rIns="0" tIns="0" bIns="0">
            <a:spAutoFit/>
          </a:bodyPr>
          <a:lstStyle/>
          <a:p>
            <a:pPr marL="285750" indent="-285750" algn="l">
              <a:lnSpc>
                <a:spcPct val="95000"/>
              </a:lnSpc>
              <a:spcBef>
                <a:spcPts val="0"/>
              </a:spcBef>
              <a:buClr>
                <a:srgbClr val="C00000"/>
              </a:buClr>
              <a:buSzPct val="100000"/>
              <a:buFont typeface="Arial"/>
              <a:buChar char="•"/>
            </a:pPr>
            <a:r>
              <a:rPr lang="vi-VN" sz="1600" b="0" i="0" dirty="0">
                <a:solidFill>
                  <a:srgbClr val="262626"/>
                </a:solidFill>
                <a:latin typeface="Times New Roman"/>
                <a:ea typeface="Times New Roman"/>
                <a:cs typeface="Times New Roman"/>
                <a:sym typeface="Times New Roman"/>
              </a:rPr>
              <a:t xml:space="preserve">Data contract v1.0.0 (</a:t>
            </a:r>
            <a:r>
              <a:rPr lang="vi-VN" sz="1600" b="0" i="0" dirty="0">
                <a:solidFill>
                  <a:srgbClr val="262626"/>
                </a:solidFill>
                <a:latin typeface="Courier New"/>
                <a:ea typeface="Courier New"/>
                <a:cs typeface="Courier New"/>
                <a:sym typeface="Courier New"/>
              </a:rPr>
              <a:t xml:space="preserve">common/contract.py</a:t>
            </a:r>
            <a:r>
              <a:rPr lang="vi-VN" sz="1600" b="0" i="0" dirty="0">
                <a:solidFill>
                  <a:srgbClr val="262626"/>
                </a:solidFill>
                <a:latin typeface="Times New Roman"/>
                <a:ea typeface="Times New Roman"/>
                <a:cs typeface="Times New Roman"/>
                <a:sym typeface="Times New Roman"/>
              </a:rPr>
              <a:t xml:space="preserve">): kiểu, null, đơn vị, miền giá trị, khóa chính; 14 cột, 100% bản ghi có thời tiết</a:t>
            </a:r>
          </a:p>
          <a:p>
            <a:pPr marL="285750" indent="-285750" algn="l">
              <a:lnSpc>
                <a:spcPct val="95000"/>
              </a:lnSpc>
              <a:spcBef>
                <a:spcPts val="900"/>
              </a:spcBef>
              <a:buClr>
                <a:srgbClr val="C00000"/>
              </a:buClr>
              <a:buSzPct val="100000"/>
              <a:buFont typeface="Arial"/>
              <a:buChar char="•"/>
            </a:pPr>
            <a:r>
              <a:rPr lang="vi-VN" sz="1600" b="0" i="0" dirty="0">
                <a:solidFill>
                  <a:srgbClr val="262626"/>
                </a:solidFill>
                <a:latin typeface="Times New Roman"/>
                <a:ea typeface="Times New Roman"/>
                <a:cs typeface="Times New Roman"/>
                <a:sym typeface="Times New Roman"/>
              </a:rPr>
              <a:t xml:space="preserve">Một nguồn quy tắc dùng ở </a:t>
            </a:r>
            <a:r>
              <a:rPr lang="vi-VN" sz="1600" b="1" i="0" dirty="0">
                <a:solidFill>
                  <a:srgbClr val="262626"/>
                </a:solidFill>
                <a:latin typeface="Times New Roman"/>
                <a:ea typeface="Times New Roman"/>
                <a:cs typeface="Times New Roman"/>
                <a:sym typeface="Times New Roman"/>
              </a:rPr>
              <a:t xml:space="preserve">5 nơi</a:t>
            </a:r>
            <a:r>
              <a:rPr lang="vi-VN" sz="1600" b="0" i="0" dirty="0">
                <a:solidFill>
                  <a:srgbClr val="262626"/>
                </a:solidFill>
                <a:latin typeface="Times New Roman"/>
                <a:ea typeface="Times New Roman"/>
                <a:cs typeface="Times New Roman"/>
                <a:sym typeface="Times New Roman"/>
              </a:rPr>
              <a:t xml:space="preserve"> (hình trên) → chặn </a:t>
            </a:r>
            <a:r>
              <a:rPr lang="vi-VN" sz="1600" b="1" i="0" dirty="0">
                <a:solidFill>
                  <a:srgbClr val="262626"/>
                </a:solidFill>
                <a:latin typeface="Times New Roman"/>
                <a:ea typeface="Times New Roman"/>
                <a:cs typeface="Times New Roman"/>
                <a:sym typeface="Times New Roman"/>
              </a:rPr>
              <a:t xml:space="preserve">schema drift</a:t>
            </a:r>
          </a:p>
          <a:p>
            <a:pPr marL="285750" indent="-285750" algn="l">
              <a:lnSpc>
                <a:spcPct val="95000"/>
              </a:lnSpc>
              <a:spcBef>
                <a:spcPts val="900"/>
              </a:spcBef>
              <a:buClr>
                <a:srgbClr val="C00000"/>
              </a:buClr>
              <a:buSzPct val="100000"/>
              <a:buFont typeface="Arial"/>
              <a:buChar char="•"/>
            </a:pPr>
            <a:r>
              <a:rPr lang="vi-VN" sz="1600" b="0" i="0" dirty="0">
                <a:solidFill>
                  <a:srgbClr val="262626"/>
                </a:solidFill>
                <a:latin typeface="Times New Roman"/>
                <a:ea typeface="Times New Roman"/>
                <a:cs typeface="Times New Roman"/>
                <a:sym typeface="Times New Roman"/>
              </a:rPr>
              <a:t xml:space="preserve">Phase 2 phát triển trên mock rồi chuyển sang dữ liệu thật </a:t>
            </a:r>
            <a:r>
              <a:rPr lang="vi-VN" sz="1600" b="1" i="0" dirty="0">
                <a:solidFill>
                  <a:srgbClr val="262626"/>
                </a:solidFill>
                <a:latin typeface="Times New Roman"/>
                <a:ea typeface="Times New Roman"/>
                <a:cs typeface="Times New Roman"/>
                <a:sym typeface="Times New Roman"/>
              </a:rPr>
              <a:t xml:space="preserve">không sửa code</a:t>
            </a:r>
          </a:p>
          <a:p>
            <a:pPr marL="285750" indent="-285750" algn="l">
              <a:lnSpc>
                <a:spcPct val="95000"/>
              </a:lnSpc>
              <a:spcBef>
                <a:spcPts val="900"/>
              </a:spcBef>
              <a:buClr>
                <a:srgbClr val="C00000"/>
              </a:buClr>
              <a:buSzPct val="100000"/>
              <a:buFont typeface="Arial"/>
              <a:buChar char="•"/>
            </a:pPr>
            <a:r>
              <a:rPr lang="vi-VN" sz="1600" b="0" i="0" dirty="0">
                <a:solidFill>
                  <a:srgbClr val="262626"/>
                </a:solidFill>
                <a:latin typeface="Times New Roman"/>
                <a:ea typeface="Times New Roman"/>
                <a:cs typeface="Times New Roman"/>
                <a:sym typeface="Times New Roman"/>
              </a:rPr>
              <a:t xml:space="preserve">Ràng buộc CHECK của database </a:t>
            </a:r>
            <a:r>
              <a:rPr lang="vi-VN" sz="1600" b="1" i="0" dirty="0">
                <a:solidFill>
                  <a:srgbClr val="262626"/>
                </a:solidFill>
                <a:latin typeface="Times New Roman"/>
                <a:ea typeface="Times New Roman"/>
                <a:cs typeface="Times New Roman"/>
                <a:sym typeface="Times New Roman"/>
              </a:rPr>
              <a:t xml:space="preserve">sinh tự động</a:t>
            </a:r>
            <a:r>
              <a:rPr lang="vi-VN" sz="1600" b="0" i="0" dirty="0">
                <a:solidFill>
                  <a:srgbClr val="262626"/>
                </a:solidFill>
                <a:latin typeface="Times New Roman"/>
                <a:ea typeface="Times New Roman"/>
                <a:cs typeface="Times New Roman"/>
                <a:sym typeface="Times New Roman"/>
              </a:rPr>
              <a:t xml:space="preserve"> từ contract, không viết tay</a:t>
            </a:r>
          </a:p>
        </p:txBody>
      </p:sp>
      <p:graphicFrame>
        <p:nvGraphicFramePr>
          <p:cNvPr id="10" name="Table 9"/>
          <p:cNvGraphicFramePr>
            <a:graphicFrameLocks noGrp="1"/>
          </p:cNvGraphicFramePr>
          <p:nvPr/>
        </p:nvGraphicFramePr>
        <p:xfrm>
          <a:off x="228600" y="2423160"/>
          <a:ext cx="8686800" cy="914400"/>
        </p:xfrm>
        <a:graphic>
          <a:graphicData uri="http://schemas.openxmlformats.org/drawingml/2006/table">
            <a:tbl>
              <a:tblPr firstRow="1" bandRow="0"/>
              <a:tblGrid>
                <a:gridCol w="2377440"/>
                <a:gridCol w="1737360"/>
                <a:gridCol w="1188720"/>
                <a:gridCol w="1554480"/>
                <a:gridCol w="1828800"/>
              </a:tblGrid>
              <a:tr h="457200">
                <a:tc>
                  <a:txBody>
                    <a:bodyPr wrap="square"/>
                    <a:lstStyle/>
                    <a:p>
                      <a:pPr algn="ctr"/>
                      <a:r>
                        <a:rPr lang="vi-VN" sz="1500" b="1" i="0" dirty="0">
                          <a:solidFill>
                            <a:srgbClr val="FFFFFF"/>
                          </a:solidFill>
                          <a:latin typeface="Times New Roman"/>
                          <a:ea typeface="Times New Roman"/>
                          <a:cs typeface="Times New Roman"/>
                          <a:sym typeface="Times New Roman"/>
                        </a:rPr>
                        <a:t xml:space="preserve">Bảng</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c>
                  <a:txBody>
                    <a:bodyPr wrap="square"/>
                    <a:lstStyle/>
                    <a:p>
                      <a:pPr algn="ctr"/>
                      <a:r>
                        <a:rPr lang="vi-VN" sz="1500" b="1" i="0" dirty="0">
                          <a:solidFill>
                            <a:srgbClr val="FFFFFF"/>
                          </a:solidFill>
                          <a:latin typeface="Times New Roman"/>
                          <a:ea typeface="Times New Roman"/>
                          <a:cs typeface="Times New Roman"/>
                          <a:sym typeface="Times New Roman"/>
                        </a:rPr>
                        <a:t xml:space="preserve">Số dòng</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c>
                  <a:txBody>
                    <a:bodyPr wrap="square"/>
                    <a:lstStyle/>
                    <a:p>
                      <a:pPr algn="ctr"/>
                      <a:r>
                        <a:rPr lang="vi-VN" sz="1500" b="1" i="0" dirty="0">
                          <a:solidFill>
                            <a:srgbClr val="FFFFFF"/>
                          </a:solidFill>
                          <a:latin typeface="Times New Roman"/>
                          <a:ea typeface="Times New Roman"/>
                          <a:cs typeface="Times New Roman"/>
                          <a:sym typeface="Times New Roman"/>
                        </a:rPr>
                        <a:t xml:space="preserve">Số đường</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c>
                  <a:txBody>
                    <a:bodyPr wrap="square"/>
                    <a:lstStyle/>
                    <a:p>
                      <a:pPr algn="ctr"/>
                      <a:r>
                        <a:rPr lang="vi-VN" sz="1500" b="1" i="0" dirty="0">
                          <a:solidFill>
                            <a:srgbClr val="FFFFFF"/>
                          </a:solidFill>
                          <a:latin typeface="Times New Roman"/>
                          <a:ea typeface="Times New Roman"/>
                          <a:cs typeface="Times New Roman"/>
                          <a:sym typeface="Times New Roman"/>
                        </a:rPr>
                        <a:t xml:space="preserve">Grain</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c>
                  <a:txBody>
                    <a:bodyPr wrap="square"/>
                    <a:lstStyle/>
                    <a:p>
                      <a:pPr algn="ctr"/>
                      <a:r>
                        <a:rPr lang="vi-VN" sz="1500" b="1" i="0" dirty="0">
                          <a:solidFill>
                            <a:srgbClr val="FFFFFF"/>
                          </a:solidFill>
                          <a:latin typeface="Times New Roman"/>
                          <a:ea typeface="Times New Roman"/>
                          <a:cs typeface="Times New Roman"/>
                          <a:sym typeface="Times New Roman"/>
                        </a:rPr>
                        <a:t xml:space="preserve">Kiểm tra contract</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r>
              <a:tr h="457200">
                <a:tc>
                  <a:txBody>
                    <a:bodyPr wrap="square"/>
                    <a:lstStyle/>
                    <a:p>
                      <a:pPr algn="l"/>
                      <a:r>
                        <a:rPr lang="vi-VN" sz="1500" b="1" i="0" dirty="0">
                          <a:solidFill>
                            <a:srgbClr val="262626"/>
                          </a:solidFill>
                          <a:latin typeface="Times New Roman"/>
                          <a:ea typeface="Times New Roman"/>
                          <a:cs typeface="Times New Roman"/>
                          <a:sym typeface="Times New Roman"/>
                        </a:rPr>
                        <a:t xml:space="preserve">integrated_traffic</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wrap="square"/>
                    <a:lstStyle/>
                    <a:p>
                      <a:pPr algn="ctr"/>
                      <a:r>
                        <a:rPr lang="vi-VN" sz="1500" b="0" i="0" dirty="0">
                          <a:solidFill>
                            <a:srgbClr val="262626"/>
                          </a:solidFill>
                          <a:latin typeface="Times New Roman"/>
                          <a:ea typeface="Times New Roman"/>
                          <a:cs typeface="Times New Roman"/>
                          <a:sym typeface="Times New Roman"/>
                        </a:rPr>
                        <a:t xml:space="preserve">805.780</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wrap="square"/>
                    <a:lstStyle/>
                    <a:p>
                      <a:pPr algn="ctr"/>
                      <a:r>
                        <a:rPr lang="vi-VN" sz="1500" b="0" i="0" dirty="0">
                          <a:solidFill>
                            <a:srgbClr val="262626"/>
                          </a:solidFill>
                          <a:latin typeface="Times New Roman"/>
                          <a:ea typeface="Times New Roman"/>
                          <a:cs typeface="Times New Roman"/>
                          <a:sym typeface="Times New Roman"/>
                        </a:rPr>
                        <a:t xml:space="preserve">211</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wrap="square"/>
                    <a:lstStyle/>
                    <a:p>
                      <a:pPr algn="ctr"/>
                      <a:r>
                        <a:rPr lang="vi-VN" sz="1500" b="0" i="0" dirty="0">
                          <a:solidFill>
                            <a:srgbClr val="262626"/>
                          </a:solidFill>
                          <a:latin typeface="Times New Roman"/>
                          <a:ea typeface="Times New Roman"/>
                          <a:cs typeface="Times New Roman"/>
                          <a:sym typeface="Times New Roman"/>
                        </a:rPr>
                        <a:t xml:space="preserve">1 đường × 1 giờ</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wrap="square"/>
                    <a:lstStyle/>
                    <a:p>
                      <a:pPr algn="ctr"/>
                      <a:r>
                        <a:rPr lang="vi-VN" sz="1500" b="1" i="0" dirty="0">
                          <a:solidFill>
                            <a:srgbClr val="C00000"/>
                          </a:solidFill>
                          <a:latin typeface="Times New Roman"/>
                          <a:ea typeface="Times New Roman"/>
                          <a:cs typeface="Times New Roman"/>
                          <a:sym typeface="Times New Roman"/>
                        </a:rPr>
                        <a:t xml:space="preserve">0 lỗi</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1"/>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Times New Roman"/>
              <a:buNone/>
            </a:pPr>
            <a:r>
              <a:rPr b="1" lang="en-US" sz="2400">
                <a:solidFill>
                  <a:schemeClr val="dk1"/>
                </a:solidFill>
                <a:latin typeface="Times New Roman"/>
                <a:ea typeface="Times New Roman"/>
                <a:cs typeface="Times New Roman"/>
                <a:sym typeface="Times New Roman"/>
              </a:rPr>
              <a:t>Spark: thí nghiệm Predicate Pushdown</a:t>
            </a:r>
            <a:endParaRPr/>
          </a:p>
        </p:txBody>
      </p:sp>
      <p:sp>
        <p:nvSpPr>
          <p:cNvPr id="146" name="Google Shape;146;p11"/>
          <p:cNvSpPr txBox="1"/>
          <p:nvPr/>
        </p:nvSpPr>
        <p:spPr>
          <a:xfrm>
            <a:off x="228600" y="3886200"/>
            <a:ext cx="8686800" cy="2194560"/>
          </a:xfrm>
          <a:prstGeom prst="rect">
            <a:avLst/>
          </a:prstGeom>
          <a:noFill/>
          <a:ln>
            <a:noFill/>
          </a:ln>
        </p:spPr>
        <p:txBody>
          <a:bodyPr anchorCtr="0" anchor="t" bIns="45700" lIns="91425" spcFirstLastPara="1" rIns="91425" wrap="square" tIns="45700">
            <a:spAutoFit/>
          </a:bodyPr>
          <a:lstStyle/>
          <a:p>
            <a:pPr marL="285750" indent="-285750" algn="l">
              <a:lnSpc>
                <a:spcPct val="95000"/>
              </a:lnSpc>
              <a:spcBef>
                <a:spcPts val="0"/>
              </a:spcBef>
              <a:buClr>
                <a:srgbClr val="C00000"/>
              </a:buClr>
              <a:buSzPct val="100000"/>
              <a:buFont typeface="Arial"/>
              <a:buChar char="•"/>
            </a:pPr>
            <a:r>
              <a:rPr lang="vi-VN" sz="1600" b="0" i="0" dirty="0">
                <a:solidFill>
                  <a:srgbClr val="262626"/>
                </a:solidFill>
                <a:latin typeface="Times New Roman"/>
                <a:ea typeface="Times New Roman"/>
                <a:cs typeface="Times New Roman"/>
                <a:sym typeface="Times New Roman"/>
              </a:rPr>
              <a:t xml:space="preserve">Không có pushdown: </a:t>
            </a:r>
            <a:r>
              <a:rPr lang="vi-VN" sz="1600" b="1" i="0" dirty="0">
                <a:solidFill>
                  <a:srgbClr val="262626"/>
                </a:solidFill>
                <a:latin typeface="Times New Roman"/>
                <a:ea typeface="Times New Roman"/>
                <a:cs typeface="Times New Roman"/>
                <a:sym typeface="Times New Roman"/>
              </a:rPr>
              <a:t xml:space="preserve">chậm hơn 4,0 lần</a:t>
            </a:r>
            <a:r>
              <a:rPr lang="vi-VN" sz="1600" b="0" i="0" dirty="0">
                <a:solidFill>
                  <a:srgbClr val="262626"/>
                </a:solidFill>
                <a:latin typeface="Times New Roman"/>
                <a:ea typeface="Times New Roman"/>
                <a:cs typeface="Times New Roman"/>
                <a:sym typeface="Times New Roman"/>
              </a:rPr>
              <a:t xml:space="preserve">, kết quả </a:t>
            </a:r>
            <a:r>
              <a:rPr lang="vi-VN" sz="1600" b="1" i="0" dirty="0">
                <a:solidFill>
                  <a:srgbClr val="262626"/>
                </a:solidFill>
                <a:latin typeface="Times New Roman"/>
                <a:ea typeface="Times New Roman"/>
                <a:cs typeface="Times New Roman"/>
                <a:sym typeface="Times New Roman"/>
              </a:rPr>
              <a:t xml:space="preserve">giống hệt</a:t>
            </a:r>
            <a:r>
              <a:rPr lang="vi-VN" sz="1600" b="0" i="0" dirty="0">
                <a:solidFill>
                  <a:srgbClr val="262626"/>
                </a:solidFill>
                <a:latin typeface="Times New Roman"/>
                <a:ea typeface="Times New Roman"/>
                <a:cs typeface="Times New Roman"/>
                <a:sym typeface="Times New Roman"/>
              </a:rPr>
              <a:t xml:space="preserve"> (21.167 bản ghi, 55,3 km/h)</a:t>
            </a:r>
          </a:p>
          <a:p>
            <a:pPr marL="285750" indent="-285750" algn="l">
              <a:lnSpc>
                <a:spcPct val="95000"/>
              </a:lnSpc>
              <a:spcBef>
                <a:spcPts val="900"/>
              </a:spcBef>
              <a:buClr>
                <a:srgbClr val="C00000"/>
              </a:buClr>
              <a:buSzPct val="100000"/>
              <a:buFont typeface="Arial"/>
              <a:buChar char="•"/>
            </a:pPr>
            <a:r>
              <a:rPr lang="vi-VN" sz="1600" b="0" i="0" dirty="0">
                <a:solidFill>
                  <a:srgbClr val="262626"/>
                </a:solidFill>
                <a:latin typeface="Times New Roman"/>
                <a:ea typeface="Times New Roman"/>
                <a:cs typeface="Times New Roman"/>
                <a:sym typeface="Times New Roman"/>
              </a:rPr>
              <a:t xml:space="preserve">Lọc trước giảm </a:t>
            </a:r>
            <a:r>
              <a:rPr lang="vi-VN" sz="1600" b="1" i="0" dirty="0">
                <a:solidFill>
                  <a:srgbClr val="262626"/>
                </a:solidFill>
                <a:latin typeface="Times New Roman"/>
                <a:ea typeface="Times New Roman"/>
                <a:cs typeface="Times New Roman"/>
                <a:sym typeface="Times New Roman"/>
              </a:rPr>
              <a:t xml:space="preserve">11 lần</a:t>
            </a:r>
            <a:r>
              <a:rPr lang="vi-VN" sz="1600" b="0" i="0" dirty="0">
                <a:solidFill>
                  <a:srgbClr val="262626"/>
                </a:solidFill>
                <a:latin typeface="Times New Roman"/>
                <a:ea typeface="Times New Roman"/>
                <a:cs typeface="Times New Roman"/>
                <a:sym typeface="Times New Roman"/>
              </a:rPr>
              <a:t xml:space="preserve"> số dòng vào join</a:t>
            </a:r>
          </a:p>
          <a:p>
            <a:pPr marL="285750" indent="-285750" algn="l">
              <a:lnSpc>
                <a:spcPct val="95000"/>
              </a:lnSpc>
              <a:spcBef>
                <a:spcPts val="900"/>
              </a:spcBef>
              <a:buClr>
                <a:srgbClr val="C00000"/>
              </a:buClr>
              <a:buSzPct val="100000"/>
              <a:buFont typeface="Arial"/>
              <a:buChar char="•"/>
            </a:pPr>
            <a:r>
              <a:rPr lang="vi-VN" sz="1600" b="0" i="0" dirty="0">
                <a:solidFill>
                  <a:srgbClr val="262626"/>
                </a:solidFill>
                <a:latin typeface="Times New Roman"/>
                <a:ea typeface="Times New Roman"/>
                <a:cs typeface="Times New Roman"/>
                <a:sym typeface="Times New Roman"/>
              </a:rPr>
              <a:t xml:space="preserve">Catalyst tự viết lại Join → Filter thành Filter → Join; partition pruning theo tháng nhanh hơn 3 lần (0,08 s so với 0,23 s)</a:t>
            </a:r>
          </a:p>
        </p:txBody>
      </p:sp>
      <p:sp>
        <p:nvSpPr>
          <p:cNvPr id="147" name="TextBox 146"/>
          <p:cNvSpPr txBox="1"/>
          <p:nvPr/>
        </p:nvSpPr>
        <p:spPr>
          <a:xfrm>
            <a:off x="228600" y="777240"/>
            <a:ext cx="8686800" cy="548640"/>
          </a:xfrm>
          <a:prstGeom prst="rect">
            <a:avLst/>
          </a:prstGeom>
          <a:noFill/>
        </p:spPr>
        <p:txBody>
          <a:bodyPr wrap="square" anchor="t" lIns="91440" rIns="91440" tIns="45720" bIns="45720">
            <a:spAutoFit/>
          </a:bodyPr>
          <a:lstStyle/>
          <a:p>
            <a:pPr marL="0" indent="0" algn="l">
              <a:lnSpc>
                <a:spcPct val="95000"/>
              </a:lnSpc>
              <a:spcBef>
                <a:spcPts val="0"/>
              </a:spcBef>
              <a:buNone/>
            </a:pPr>
            <a:r>
              <a:rPr lang="vi-VN" sz="1500" b="0" i="1" dirty="0">
                <a:solidFill>
                  <a:srgbClr val="262626"/>
                </a:solidFill>
                <a:latin typeface="Times New Roman"/>
                <a:ea typeface="Times New Roman"/>
                <a:cs typeface="Times New Roman"/>
                <a:sym typeface="Times New Roman"/>
              </a:rPr>
              <a:t xml:space="preserve">Truy vấn: tốc độ TB ở Queens, giờ mưa, tháng 3/2024; join 9 triệu bản ghi × 125 tuyến × 43.915 giờ thời tiết</a:t>
            </a:r>
          </a:p>
        </p:txBody>
      </p:sp>
      <p:graphicFrame>
        <p:nvGraphicFramePr>
          <p:cNvPr id="148" name="Table 147"/>
          <p:cNvGraphicFramePr>
            <a:graphicFrameLocks noGrp="1"/>
          </p:cNvGraphicFramePr>
          <p:nvPr/>
        </p:nvGraphicFramePr>
        <p:xfrm>
          <a:off x="228600" y="1371600"/>
          <a:ext cx="8686800" cy="2286000"/>
        </p:xfrm>
        <a:graphic>
          <a:graphicData uri="http://schemas.openxmlformats.org/drawingml/2006/table">
            <a:tbl>
              <a:tblPr firstRow="1" bandRow="0"/>
              <a:tblGrid>
                <a:gridCol w="2743200"/>
                <a:gridCol w="1828800"/>
                <a:gridCol w="2103120"/>
                <a:gridCol w="2011680"/>
              </a:tblGrid>
              <a:tr h="457200">
                <a:tc>
                  <a:txBody>
                    <a:bodyPr wrap="square"/>
                    <a:lstStyle/>
                    <a:p>
                      <a:pPr algn="ctr"/>
                      <a:r>
                        <a:rPr lang="vi-VN" sz="1500" b="1" i="0" dirty="0">
                          <a:solidFill>
                            <a:srgbClr val="FFFFFF"/>
                          </a:solidFill>
                          <a:latin typeface="Times New Roman"/>
                          <a:ea typeface="Times New Roman"/>
                          <a:cs typeface="Times New Roman"/>
                          <a:sym typeface="Times New Roman"/>
                        </a:rPr>
                        <a:t xml:space="preserve">Thí nghiệm</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c>
                  <a:txBody>
                    <a:bodyPr wrap="square"/>
                    <a:lstStyle/>
                    <a:p>
                      <a:pPr algn="ctr"/>
                      <a:r>
                        <a:rPr lang="vi-VN" sz="1500" b="1" i="0" dirty="0">
                          <a:solidFill>
                            <a:srgbClr val="FFFFFF"/>
                          </a:solidFill>
                          <a:latin typeface="Times New Roman"/>
                          <a:ea typeface="Times New Roman"/>
                          <a:cs typeface="Times New Roman"/>
                          <a:sym typeface="Times New Roman"/>
                        </a:rPr>
                        <a:t xml:space="preserve">Truy vấn</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c>
                  <a:txBody>
                    <a:bodyPr wrap="square"/>
                    <a:lstStyle/>
                    <a:p>
                      <a:pPr algn="ctr"/>
                      <a:r>
                        <a:rPr lang="vi-VN" sz="1500" b="1" i="0" dirty="0">
                          <a:solidFill>
                            <a:srgbClr val="FFFFFF"/>
                          </a:solidFill>
                          <a:latin typeface="Times New Roman"/>
                          <a:ea typeface="Times New Roman"/>
                          <a:cs typeface="Times New Roman"/>
                          <a:sym typeface="Times New Roman"/>
                        </a:rPr>
                        <a:t xml:space="preserve">Dòng vào join</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c>
                  <a:txBody>
                    <a:bodyPr wrap="square"/>
                    <a:lstStyle/>
                    <a:p>
                      <a:pPr algn="ctr"/>
                      <a:r>
                        <a:rPr lang="vi-VN" sz="1500" b="1" i="0" dirty="0">
                          <a:solidFill>
                            <a:srgbClr val="FFFFFF"/>
                          </a:solidFill>
                          <a:latin typeface="Times New Roman"/>
                          <a:ea typeface="Times New Roman"/>
                          <a:cs typeface="Times New Roman"/>
                          <a:sym typeface="Times New Roman"/>
                        </a:rPr>
                        <a:t xml:space="preserve">Thời gian</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r>
              <a:tr h="457200">
                <a:tc>
                  <a:txBody>
                    <a:bodyPr wrap="square"/>
                    <a:lstStyle/>
                    <a:p>
                      <a:pPr algn="l"/>
                      <a:r>
                        <a:rPr lang="vi-VN" sz="1500" b="1" i="0" dirty="0">
                          <a:solidFill>
                            <a:srgbClr val="262626"/>
                          </a:solidFill>
                          <a:latin typeface="Times New Roman"/>
                          <a:ea typeface="Times New Roman"/>
                          <a:cs typeface="Times New Roman"/>
                          <a:sym typeface="Times New Roman"/>
                        </a:rPr>
                        <a:t xml:space="preserve">Catalyst bật</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wrap="square"/>
                    <a:lstStyle/>
                    <a:p>
                      <a:pPr algn="ctr"/>
                      <a:r>
                        <a:rPr lang="vi-VN" sz="1500" b="0" i="0" dirty="0">
                          <a:solidFill>
                            <a:srgbClr val="262626"/>
                          </a:solidFill>
                          <a:latin typeface="Times New Roman"/>
                          <a:ea typeface="Times New Roman"/>
                          <a:cs typeface="Times New Roman"/>
                          <a:sym typeface="Times New Roman"/>
                        </a:rPr>
                        <a:t xml:space="preserve">Join → Filter</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wrap="square"/>
                    <a:lstStyle/>
                    <a:p>
                      <a:pPr algn="ctr"/>
                      <a:r>
                        <a:rPr lang="vi-VN" sz="1500" b="0" i="0" dirty="0">
                          <a:solidFill>
                            <a:srgbClr val="262626"/>
                          </a:solidFill>
                          <a:latin typeface="Times New Roman"/>
                          <a:ea typeface="Times New Roman"/>
                          <a:cs typeface="Times New Roman"/>
                          <a:sym typeface="Times New Roman"/>
                        </a:rPr>
                        <a:t xml:space="preserve">800.924</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wrap="square"/>
                    <a:lstStyle/>
                    <a:p>
                      <a:pPr algn="ctr"/>
                      <a:r>
                        <a:rPr lang="vi-VN" sz="1500" b="0" i="0" dirty="0">
                          <a:solidFill>
                            <a:srgbClr val="262626"/>
                          </a:solidFill>
                          <a:latin typeface="Times New Roman"/>
                          <a:ea typeface="Times New Roman"/>
                          <a:cs typeface="Times New Roman"/>
                          <a:sym typeface="Times New Roman"/>
                        </a:rPr>
                        <a:t xml:space="preserve">3,87 s</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r h="457200">
                <a:tc>
                  <a:txBody>
                    <a:bodyPr wrap="square"/>
                    <a:lstStyle/>
                    <a:p>
                      <a:pPr algn="l"/>
                      <a:r>
                        <a:rPr lang="vi-VN" sz="1500" b="1" i="0" dirty="0">
                          <a:solidFill>
                            <a:srgbClr val="262626"/>
                          </a:solidFill>
                          <a:latin typeface="Times New Roman"/>
                          <a:ea typeface="Times New Roman"/>
                          <a:cs typeface="Times New Roman"/>
                          <a:sym typeface="Times New Roman"/>
                        </a:rPr>
                        <a:t xml:space="preserve">Catalyst bật</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7ECEC"/>
                    </a:solidFill>
                  </a:tcPr>
                </a:tc>
                <a:tc>
                  <a:txBody>
                    <a:bodyPr wrap="square"/>
                    <a:lstStyle/>
                    <a:p>
                      <a:pPr algn="ctr"/>
                      <a:r>
                        <a:rPr lang="vi-VN" sz="1500" b="0" i="0" dirty="0">
                          <a:solidFill>
                            <a:srgbClr val="262626"/>
                          </a:solidFill>
                          <a:latin typeface="Times New Roman"/>
                          <a:ea typeface="Times New Roman"/>
                          <a:cs typeface="Times New Roman"/>
                          <a:sym typeface="Times New Roman"/>
                        </a:rPr>
                        <a:t xml:space="preserve">Filter → Join</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7ECEC"/>
                    </a:solidFill>
                  </a:tcPr>
                </a:tc>
                <a:tc>
                  <a:txBody>
                    <a:bodyPr wrap="square"/>
                    <a:lstStyle/>
                    <a:p>
                      <a:pPr algn="ctr"/>
                      <a:r>
                        <a:rPr lang="vi-VN" sz="1500" b="0" i="0" dirty="0">
                          <a:solidFill>
                            <a:srgbClr val="262626"/>
                          </a:solidFill>
                          <a:latin typeface="Times New Roman"/>
                          <a:ea typeface="Times New Roman"/>
                          <a:cs typeface="Times New Roman"/>
                          <a:sym typeface="Times New Roman"/>
                        </a:rPr>
                        <a:t xml:space="preserve">800.924</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7ECEC"/>
                    </a:solidFill>
                  </a:tcPr>
                </a:tc>
                <a:tc>
                  <a:txBody>
                    <a:bodyPr wrap="square"/>
                    <a:lstStyle/>
                    <a:p>
                      <a:pPr algn="ctr"/>
                      <a:r>
                        <a:rPr lang="vi-VN" sz="1500" b="0" i="0" dirty="0">
                          <a:solidFill>
                            <a:srgbClr val="262626"/>
                          </a:solidFill>
                          <a:latin typeface="Times New Roman"/>
                          <a:ea typeface="Times New Roman"/>
                          <a:cs typeface="Times New Roman"/>
                          <a:sym typeface="Times New Roman"/>
                        </a:rPr>
                        <a:t xml:space="preserve">3,79 s</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7ECEC"/>
                    </a:solidFill>
                  </a:tcPr>
                </a:tc>
              </a:tr>
              <a:tr h="457200">
                <a:tc>
                  <a:txBody>
                    <a:bodyPr wrap="square"/>
                    <a:lstStyle/>
                    <a:p>
                      <a:pPr algn="l"/>
                      <a:r>
                        <a:rPr lang="vi-VN" sz="1500" b="1" i="0" dirty="0">
                          <a:solidFill>
                            <a:srgbClr val="262626"/>
                          </a:solidFill>
                          <a:latin typeface="Times New Roman"/>
                          <a:ea typeface="Times New Roman"/>
                          <a:cs typeface="Times New Roman"/>
                          <a:sym typeface="Times New Roman"/>
                        </a:rPr>
                        <a:t xml:space="preserve">Tắt 5 quy tắc tối ưu</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2C9C9"/>
                    </a:solidFill>
                  </a:tcPr>
                </a:tc>
                <a:tc>
                  <a:txBody>
                    <a:bodyPr wrap="square"/>
                    <a:lstStyle/>
                    <a:p>
                      <a:pPr algn="ctr"/>
                      <a:r>
                        <a:rPr lang="vi-VN" sz="1500" b="1" i="0" dirty="0">
                          <a:solidFill>
                            <a:srgbClr val="262626"/>
                          </a:solidFill>
                          <a:latin typeface="Times New Roman"/>
                          <a:ea typeface="Times New Roman"/>
                          <a:cs typeface="Times New Roman"/>
                          <a:sym typeface="Times New Roman"/>
                        </a:rPr>
                        <a:t xml:space="preserve">Join → Filter</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2C9C9"/>
                    </a:solidFill>
                  </a:tcPr>
                </a:tc>
                <a:tc>
                  <a:txBody>
                    <a:bodyPr wrap="square"/>
                    <a:lstStyle/>
                    <a:p>
                      <a:pPr algn="ctr"/>
                      <a:r>
                        <a:rPr lang="vi-VN" sz="1500" b="1" i="0" dirty="0">
                          <a:solidFill>
                            <a:srgbClr val="C00000"/>
                          </a:solidFill>
                          <a:latin typeface="Times New Roman"/>
                          <a:ea typeface="Times New Roman"/>
                          <a:cs typeface="Times New Roman"/>
                          <a:sym typeface="Times New Roman"/>
                        </a:rPr>
                        <a:t xml:space="preserve">9.048.108</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2C9C9"/>
                    </a:solidFill>
                  </a:tcPr>
                </a:tc>
                <a:tc>
                  <a:txBody>
                    <a:bodyPr wrap="square"/>
                    <a:lstStyle/>
                    <a:p>
                      <a:pPr algn="ctr"/>
                      <a:r>
                        <a:rPr lang="vi-VN" sz="1500" b="1" i="0" dirty="0">
                          <a:solidFill>
                            <a:srgbClr val="C00000"/>
                          </a:solidFill>
                          <a:latin typeface="Times New Roman"/>
                          <a:ea typeface="Times New Roman"/>
                          <a:cs typeface="Times New Roman"/>
                          <a:sym typeface="Times New Roman"/>
                        </a:rPr>
                        <a:t xml:space="preserve">8,51 s</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2C9C9"/>
                    </a:solidFill>
                  </a:tcPr>
                </a:tc>
              </a:tr>
              <a:tr h="457200">
                <a:tc>
                  <a:txBody>
                    <a:bodyPr wrap="square"/>
                    <a:lstStyle/>
                    <a:p>
                      <a:pPr algn="l"/>
                      <a:r>
                        <a:rPr lang="vi-VN" sz="1500" b="1" i="0" dirty="0">
                          <a:solidFill>
                            <a:srgbClr val="262626"/>
                          </a:solidFill>
                          <a:latin typeface="Times New Roman"/>
                          <a:ea typeface="Times New Roman"/>
                          <a:cs typeface="Times New Roman"/>
                          <a:sym typeface="Times New Roman"/>
                        </a:rPr>
                        <a:t xml:space="preserve">Tắt 5 quy tắc tối ưu</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7ECEC"/>
                    </a:solidFill>
                  </a:tcPr>
                </a:tc>
                <a:tc>
                  <a:txBody>
                    <a:bodyPr wrap="square"/>
                    <a:lstStyle/>
                    <a:p>
                      <a:pPr algn="ctr"/>
                      <a:r>
                        <a:rPr lang="vi-VN" sz="1500" b="0" i="0" dirty="0">
                          <a:solidFill>
                            <a:srgbClr val="262626"/>
                          </a:solidFill>
                          <a:latin typeface="Times New Roman"/>
                          <a:ea typeface="Times New Roman"/>
                          <a:cs typeface="Times New Roman"/>
                          <a:sym typeface="Times New Roman"/>
                        </a:rPr>
                        <a:t xml:space="preserve">Filter → Join</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7ECEC"/>
                    </a:solidFill>
                  </a:tcPr>
                </a:tc>
                <a:tc>
                  <a:txBody>
                    <a:bodyPr wrap="square"/>
                    <a:lstStyle/>
                    <a:p>
                      <a:pPr algn="ctr"/>
                      <a:r>
                        <a:rPr lang="vi-VN" sz="1500" b="0" i="0" dirty="0">
                          <a:solidFill>
                            <a:srgbClr val="262626"/>
                          </a:solidFill>
                          <a:latin typeface="Times New Roman"/>
                          <a:ea typeface="Times New Roman"/>
                          <a:cs typeface="Times New Roman"/>
                          <a:sym typeface="Times New Roman"/>
                        </a:rPr>
                        <a:t xml:space="preserve">800.924</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7ECEC"/>
                    </a:solidFill>
                  </a:tcPr>
                </a:tc>
                <a:tc>
                  <a:txBody>
                    <a:bodyPr wrap="square"/>
                    <a:lstStyle/>
                    <a:p>
                      <a:pPr algn="ctr"/>
                      <a:r>
                        <a:rPr lang="vi-VN" sz="1500" b="1" i="0" dirty="0">
                          <a:solidFill>
                            <a:srgbClr val="262626"/>
                          </a:solidFill>
                          <a:latin typeface="Times New Roman"/>
                          <a:ea typeface="Times New Roman"/>
                          <a:cs typeface="Times New Roman"/>
                          <a:sym typeface="Times New Roman"/>
                        </a:rPr>
                        <a:t xml:space="preserve">2,11 s</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7ECEC"/>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latin typeface="Times New Roman"/>
                <a:ea typeface="Times New Roman"/>
                <a:cs typeface="Times New Roman"/>
                <a:sym typeface="Times New Roman"/>
              </a:rPr>
              <a:t>Spark: xử lý xấp xỉ và khả năng mở rộng</a:t>
            </a:r>
          </a:p>
        </p:txBody>
      </p:sp>
      <p:sp>
        <p:nvSpPr>
          <p:cNvPr id="3" name="The 1"/>
          <p:cNvSpPr/>
          <p:nvPr/>
        </p:nvSpPr>
        <p:spPr>
          <a:xfrm>
            <a:off x="146304" y="868680"/>
            <a:ext cx="2834640" cy="2331720"/>
          </a:xfrm>
          <a:prstGeom prst="roundRect">
            <a:avLst>
              <a:gd name="adj" fmla="val 4000"/>
            </a:avLst>
          </a:prstGeom>
          <a:solidFill>
            <a:srgbClr val="F7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eu de the 1"/>
          <p:cNvSpPr txBox="1"/>
          <p:nvPr/>
        </p:nvSpPr>
        <p:spPr>
          <a:xfrm>
            <a:off x="256032" y="960120"/>
            <a:ext cx="2615184" cy="411480"/>
          </a:xfrm>
          <a:prstGeom prst="rect">
            <a:avLst/>
          </a:prstGeom>
          <a:noFill/>
        </p:spPr>
        <p:txBody>
          <a:bodyPr wrap="square" anchor="t" lIns="0" rIns="0" tIns="0" bIns="0">
            <a:spAutoFit/>
          </a:bodyPr>
          <a:lstStyle/>
          <a:p>
            <a:pPr marL="0" indent="0" algn="l">
              <a:lnSpc>
                <a:spcPct val="95000"/>
              </a:lnSpc>
              <a:spcBef>
                <a:spcPts val="0"/>
              </a:spcBef>
              <a:buNone/>
            </a:pPr>
            <a:r>
              <a:rPr lang="vi-VN" sz="1800" b="1" i="0" dirty="0">
                <a:solidFill>
                  <a:srgbClr val="C00000"/>
                </a:solidFill>
                <a:latin typeface="Times New Roman"/>
                <a:ea typeface="Times New Roman"/>
                <a:cs typeface="Times New Roman"/>
                <a:sym typeface="Times New Roman"/>
              </a:rPr>
              <a:t xml:space="preserve">Lấy mẫu 1%</a:t>
            </a:r>
          </a:p>
        </p:txBody>
      </p:sp>
      <p:sp>
        <p:nvSpPr>
          <p:cNvPr id="5" name="So lieu the 1"/>
          <p:cNvSpPr txBox="1"/>
          <p:nvPr/>
        </p:nvSpPr>
        <p:spPr>
          <a:xfrm>
            <a:off x="256032" y="1371600"/>
            <a:ext cx="2615184" cy="548640"/>
          </a:xfrm>
          <a:prstGeom prst="rect">
            <a:avLst/>
          </a:prstGeom>
          <a:noFill/>
        </p:spPr>
        <p:txBody>
          <a:bodyPr wrap="square" anchor="t" lIns="0" rIns="0" tIns="0" bIns="0">
            <a:spAutoFit/>
          </a:bodyPr>
          <a:lstStyle/>
          <a:p>
            <a:pPr marL="0" indent="0" algn="l">
              <a:lnSpc>
                <a:spcPct val="95000"/>
              </a:lnSpc>
              <a:spcBef>
                <a:spcPts val="0"/>
              </a:spcBef>
              <a:buNone/>
            </a:pPr>
            <a:r>
              <a:rPr lang="vi-VN" sz="3000" b="1" i="0" dirty="0">
                <a:solidFill>
                  <a:srgbClr val="262626"/>
                </a:solidFill>
                <a:latin typeface="Times New Roman"/>
                <a:ea typeface="Times New Roman"/>
                <a:cs typeface="Times New Roman"/>
                <a:sym typeface="Times New Roman"/>
              </a:rPr>
              <a:t xml:space="preserve">0,37%</a:t>
            </a:r>
          </a:p>
        </p:txBody>
      </p:sp>
      <p:sp>
        <p:nvSpPr>
          <p:cNvPr id="6" name="TextBox 5"/>
          <p:cNvSpPr txBox="1"/>
          <p:nvPr/>
        </p:nvSpPr>
        <p:spPr>
          <a:xfrm>
            <a:off x="256032" y="2011680"/>
            <a:ext cx="2615184" cy="1097280"/>
          </a:xfrm>
          <a:prstGeom prst="rect">
            <a:avLst/>
          </a:prstGeom>
          <a:noFill/>
        </p:spPr>
        <p:txBody>
          <a:bodyPr wrap="square" lIns="0" rIns="0" tIns="0" bIns="0">
            <a:spAutoFit/>
          </a:bodyPr>
          <a:lstStyle/>
          <a:p>
            <a:pPr marL="285750" indent="-285750" algn="l">
              <a:lnSpc>
                <a:spcPct val="95000"/>
              </a:lnSpc>
              <a:spcBef>
                <a:spcPts val="0"/>
              </a:spcBef>
              <a:buClr>
                <a:srgbClr val="C00000"/>
              </a:buClr>
              <a:buSzPct val="100000"/>
              <a:buFont typeface="Arial"/>
              <a:buChar char="•"/>
            </a:pPr>
            <a:r>
              <a:rPr lang="vi-VN" sz="1400" b="0" i="0" dirty="0">
                <a:solidFill>
                  <a:srgbClr val="262626"/>
                </a:solidFill>
                <a:latin typeface="Times New Roman"/>
                <a:ea typeface="Times New Roman"/>
                <a:cs typeface="Times New Roman"/>
                <a:sym typeface="Times New Roman"/>
              </a:rPr>
              <a:t xml:space="preserve">Sai số trung bình</a:t>
            </a:r>
          </a:p>
          <a:p>
            <a:pPr marL="285750" indent="-285750" algn="l">
              <a:lnSpc>
                <a:spcPct val="95000"/>
              </a:lnSpc>
              <a:spcBef>
                <a:spcPts val="900"/>
              </a:spcBef>
              <a:buClr>
                <a:srgbClr val="C00000"/>
              </a:buClr>
              <a:buSzPct val="100000"/>
              <a:buFont typeface="Arial"/>
              <a:buChar char="•"/>
            </a:pPr>
            <a:r>
              <a:rPr lang="vi-VN" sz="1400" b="0" i="0" dirty="0">
                <a:solidFill>
                  <a:srgbClr val="262626"/>
                </a:solidFill>
                <a:latin typeface="Times New Roman"/>
                <a:ea typeface="Times New Roman"/>
                <a:cs typeface="Times New Roman"/>
                <a:sym typeface="Times New Roman"/>
              </a:rPr>
              <a:t xml:space="preserve">KTC 95% đúng 96,8% số lần</a:t>
            </a:r>
          </a:p>
        </p:txBody>
      </p:sp>
      <p:sp>
        <p:nvSpPr>
          <p:cNvPr id="7" name="The 2"/>
          <p:cNvSpPr/>
          <p:nvPr/>
        </p:nvSpPr>
        <p:spPr>
          <a:xfrm>
            <a:off x="3108960" y="868680"/>
            <a:ext cx="2834640" cy="2331720"/>
          </a:xfrm>
          <a:prstGeom prst="roundRect">
            <a:avLst>
              <a:gd name="adj" fmla="val 4000"/>
            </a:avLst>
          </a:prstGeom>
          <a:solidFill>
            <a:srgbClr val="F7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ieu de the 2"/>
          <p:cNvSpPr txBox="1"/>
          <p:nvPr/>
        </p:nvSpPr>
        <p:spPr>
          <a:xfrm>
            <a:off x="3218688" y="960120"/>
            <a:ext cx="2615184" cy="411480"/>
          </a:xfrm>
          <a:prstGeom prst="rect">
            <a:avLst/>
          </a:prstGeom>
          <a:noFill/>
        </p:spPr>
        <p:txBody>
          <a:bodyPr wrap="square" anchor="t" lIns="0" rIns="0" tIns="0" bIns="0">
            <a:spAutoFit/>
          </a:bodyPr>
          <a:lstStyle/>
          <a:p>
            <a:pPr marL="0" indent="0" algn="l">
              <a:lnSpc>
                <a:spcPct val="95000"/>
              </a:lnSpc>
              <a:spcBef>
                <a:spcPts val="0"/>
              </a:spcBef>
              <a:buNone/>
            </a:pPr>
            <a:r>
              <a:rPr lang="vi-VN" sz="1800" b="1" i="0" dirty="0">
                <a:solidFill>
                  <a:srgbClr val="C00000"/>
                </a:solidFill>
                <a:latin typeface="Times New Roman"/>
                <a:ea typeface="Times New Roman"/>
                <a:cs typeface="Times New Roman"/>
                <a:sym typeface="Times New Roman"/>
              </a:rPr>
              <a:t xml:space="preserve">HyperLogLog</a:t>
            </a:r>
          </a:p>
        </p:txBody>
      </p:sp>
      <p:sp>
        <p:nvSpPr>
          <p:cNvPr id="9" name="So lieu the 2"/>
          <p:cNvSpPr txBox="1"/>
          <p:nvPr/>
        </p:nvSpPr>
        <p:spPr>
          <a:xfrm>
            <a:off x="3218688" y="1371600"/>
            <a:ext cx="2615184" cy="548640"/>
          </a:xfrm>
          <a:prstGeom prst="rect">
            <a:avLst/>
          </a:prstGeom>
          <a:noFill/>
        </p:spPr>
        <p:txBody>
          <a:bodyPr wrap="square" anchor="t" lIns="0" rIns="0" tIns="0" bIns="0">
            <a:spAutoFit/>
          </a:bodyPr>
          <a:lstStyle/>
          <a:p>
            <a:pPr marL="0" indent="0" algn="l">
              <a:lnSpc>
                <a:spcPct val="95000"/>
              </a:lnSpc>
              <a:spcBef>
                <a:spcPts val="0"/>
              </a:spcBef>
              <a:buNone/>
            </a:pPr>
            <a:r>
              <a:rPr lang="vi-VN" sz="3000" b="1" i="0" dirty="0">
                <a:solidFill>
                  <a:srgbClr val="262626"/>
                </a:solidFill>
                <a:latin typeface="Times New Roman"/>
                <a:ea typeface="Times New Roman"/>
                <a:cs typeface="Times New Roman"/>
                <a:sym typeface="Times New Roman"/>
              </a:rPr>
              <a:t xml:space="preserve">0,28%</a:t>
            </a:r>
          </a:p>
        </p:txBody>
      </p:sp>
      <p:sp>
        <p:nvSpPr>
          <p:cNvPr id="10" name="TextBox 9"/>
          <p:cNvSpPr txBox="1"/>
          <p:nvPr/>
        </p:nvSpPr>
        <p:spPr>
          <a:xfrm>
            <a:off x="3218688" y="2011680"/>
            <a:ext cx="2615184" cy="1097280"/>
          </a:xfrm>
          <a:prstGeom prst="rect">
            <a:avLst/>
          </a:prstGeom>
          <a:noFill/>
        </p:spPr>
        <p:txBody>
          <a:bodyPr wrap="square" lIns="0" rIns="0" tIns="0" bIns="0">
            <a:spAutoFit/>
          </a:bodyPr>
          <a:lstStyle/>
          <a:p>
            <a:pPr marL="285750" indent="-285750" algn="l">
              <a:lnSpc>
                <a:spcPct val="95000"/>
              </a:lnSpc>
              <a:spcBef>
                <a:spcPts val="0"/>
              </a:spcBef>
              <a:buClr>
                <a:srgbClr val="C00000"/>
              </a:buClr>
              <a:buSzPct val="100000"/>
              <a:buFont typeface="Arial"/>
              <a:buChar char="•"/>
            </a:pPr>
            <a:r>
              <a:rPr lang="vi-VN" sz="1400" b="0" i="0" dirty="0">
                <a:solidFill>
                  <a:srgbClr val="262626"/>
                </a:solidFill>
                <a:latin typeface="Times New Roman"/>
                <a:ea typeface="Times New Roman"/>
                <a:cs typeface="Times New Roman"/>
                <a:sym typeface="Times New Roman"/>
              </a:rPr>
              <a:t xml:space="preserve">791.598 so với 789.403 thật</a:t>
            </a:r>
          </a:p>
        </p:txBody>
      </p:sp>
      <p:sp>
        <p:nvSpPr>
          <p:cNvPr id="11" name="The 3"/>
          <p:cNvSpPr/>
          <p:nvPr/>
        </p:nvSpPr>
        <p:spPr>
          <a:xfrm>
            <a:off x="6071616" y="868680"/>
            <a:ext cx="2834640" cy="2331720"/>
          </a:xfrm>
          <a:prstGeom prst="roundRect">
            <a:avLst>
              <a:gd name="adj" fmla="val 4000"/>
            </a:avLst>
          </a:prstGeom>
          <a:solidFill>
            <a:srgbClr val="F7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ieu de the 3"/>
          <p:cNvSpPr txBox="1"/>
          <p:nvPr/>
        </p:nvSpPr>
        <p:spPr>
          <a:xfrm>
            <a:off x="6181344" y="960120"/>
            <a:ext cx="2615184" cy="411480"/>
          </a:xfrm>
          <a:prstGeom prst="rect">
            <a:avLst/>
          </a:prstGeom>
          <a:noFill/>
        </p:spPr>
        <p:txBody>
          <a:bodyPr wrap="square" anchor="t" lIns="0" rIns="0" tIns="0" bIns="0">
            <a:spAutoFit/>
          </a:bodyPr>
          <a:lstStyle/>
          <a:p>
            <a:pPr marL="0" indent="0" algn="l">
              <a:lnSpc>
                <a:spcPct val="95000"/>
              </a:lnSpc>
              <a:spcBef>
                <a:spcPts val="0"/>
              </a:spcBef>
              <a:buNone/>
            </a:pPr>
            <a:r>
              <a:rPr lang="vi-VN" sz="1800" b="1" i="0" dirty="0">
                <a:solidFill>
                  <a:srgbClr val="C00000"/>
                </a:solidFill>
                <a:latin typeface="Times New Roman"/>
                <a:ea typeface="Times New Roman"/>
                <a:cs typeface="Times New Roman"/>
                <a:sym typeface="Times New Roman"/>
              </a:rPr>
              <a:t xml:space="preserve">Scalability</a:t>
            </a:r>
          </a:p>
        </p:txBody>
      </p:sp>
      <p:sp>
        <p:nvSpPr>
          <p:cNvPr id="13" name="So lieu the 3"/>
          <p:cNvSpPr txBox="1"/>
          <p:nvPr/>
        </p:nvSpPr>
        <p:spPr>
          <a:xfrm>
            <a:off x="6181344" y="1371600"/>
            <a:ext cx="2615184" cy="548640"/>
          </a:xfrm>
          <a:prstGeom prst="rect">
            <a:avLst/>
          </a:prstGeom>
          <a:noFill/>
        </p:spPr>
        <p:txBody>
          <a:bodyPr wrap="square" anchor="t" lIns="0" rIns="0" tIns="0" bIns="0">
            <a:spAutoFit/>
          </a:bodyPr>
          <a:lstStyle/>
          <a:p>
            <a:pPr marL="0" indent="0" algn="l">
              <a:lnSpc>
                <a:spcPct val="95000"/>
              </a:lnSpc>
              <a:spcBef>
                <a:spcPts val="0"/>
              </a:spcBef>
              <a:buNone/>
            </a:pPr>
            <a:r>
              <a:rPr lang="vi-VN" sz="3000" b="1" i="0" dirty="0">
                <a:solidFill>
                  <a:srgbClr val="262626"/>
                </a:solidFill>
                <a:latin typeface="Times New Roman"/>
                <a:ea typeface="Times New Roman"/>
                <a:cs typeface="Times New Roman"/>
                <a:sym typeface="Times New Roman"/>
              </a:rPr>
              <a:t xml:space="preserve">145 triệu</a:t>
            </a:r>
          </a:p>
        </p:txBody>
      </p:sp>
      <p:sp>
        <p:nvSpPr>
          <p:cNvPr id="14" name="TextBox 13"/>
          <p:cNvSpPr txBox="1"/>
          <p:nvPr/>
        </p:nvSpPr>
        <p:spPr>
          <a:xfrm>
            <a:off x="6181344" y="2011680"/>
            <a:ext cx="2615184" cy="1097280"/>
          </a:xfrm>
          <a:prstGeom prst="rect">
            <a:avLst/>
          </a:prstGeom>
          <a:noFill/>
        </p:spPr>
        <p:txBody>
          <a:bodyPr wrap="square" lIns="0" rIns="0" tIns="0" bIns="0">
            <a:spAutoFit/>
          </a:bodyPr>
          <a:lstStyle/>
          <a:p>
            <a:pPr marL="285750" indent="-285750" algn="l">
              <a:lnSpc>
                <a:spcPct val="95000"/>
              </a:lnSpc>
              <a:spcBef>
                <a:spcPts val="0"/>
              </a:spcBef>
              <a:buClr>
                <a:srgbClr val="C00000"/>
              </a:buClr>
              <a:buSzPct val="100000"/>
              <a:buFont typeface="Arial"/>
              <a:buChar char="•"/>
            </a:pPr>
            <a:r>
              <a:rPr lang="vi-VN" sz="1400" b="0" i="0" dirty="0">
                <a:solidFill>
                  <a:srgbClr val="262626"/>
                </a:solidFill>
                <a:latin typeface="Times New Roman"/>
                <a:ea typeface="Times New Roman"/>
                <a:cs typeface="Times New Roman"/>
                <a:sym typeface="Times New Roman"/>
              </a:rPr>
              <a:t xml:space="preserve">Thời gian tuyến tính, R² ≥ 0,99</a:t>
            </a:r>
          </a:p>
          <a:p>
            <a:pPr marL="285750" indent="-285750" algn="l">
              <a:lnSpc>
                <a:spcPct val="95000"/>
              </a:lnSpc>
              <a:spcBef>
                <a:spcPts val="900"/>
              </a:spcBef>
              <a:buClr>
                <a:srgbClr val="C00000"/>
              </a:buClr>
              <a:buSzPct val="100000"/>
              <a:buFont typeface="Arial"/>
              <a:buChar char="•"/>
            </a:pPr>
            <a:r>
              <a:rPr lang="vi-VN" sz="1400" b="0" i="0" dirty="0">
                <a:solidFill>
                  <a:srgbClr val="262626"/>
                </a:solidFill>
                <a:latin typeface="Times New Roman"/>
                <a:ea typeface="Times New Roman"/>
                <a:cs typeface="Times New Roman"/>
                <a:sym typeface="Times New Roman"/>
              </a:rPr>
              <a:t xml:space="preserve">Bộ nhớ 34–38 MB/task</a:t>
            </a:r>
          </a:p>
        </p:txBody>
      </p:sp>
      <p:sp>
        <p:nvSpPr>
          <p:cNvPr id="15" name="Ghi chu"/>
          <p:cNvSpPr txBox="1"/>
          <p:nvPr/>
        </p:nvSpPr>
        <p:spPr>
          <a:xfrm>
            <a:off x="5486400" y="3429000"/>
            <a:ext cx="3429000" cy="2651760"/>
          </a:xfrm>
          <a:prstGeom prst="rect">
            <a:avLst/>
          </a:prstGeom>
          <a:noFill/>
        </p:spPr>
        <p:txBody>
          <a:bodyPr wrap="square" anchor="t" lIns="0" rIns="0" tIns="0" bIns="0">
            <a:spAutoFit/>
          </a:bodyPr>
          <a:lstStyle/>
          <a:p>
            <a:pPr marL="285750" indent="-285750" algn="l">
              <a:lnSpc>
                <a:spcPct val="95000"/>
              </a:lnSpc>
              <a:spcBef>
                <a:spcPts val="0"/>
              </a:spcBef>
              <a:buClr>
                <a:srgbClr val="C00000"/>
              </a:buClr>
              <a:buSzPct val="100000"/>
              <a:buFont typeface="Arial"/>
              <a:buChar char="•"/>
            </a:pPr>
            <a:r>
              <a:rPr lang="vi-VN" sz="1400" b="0" i="0" dirty="0">
                <a:solidFill>
                  <a:srgbClr val="262626"/>
                </a:solidFill>
                <a:latin typeface="Times New Roman"/>
                <a:ea typeface="Times New Roman"/>
                <a:cs typeface="Times New Roman"/>
                <a:sym typeface="Times New Roman"/>
              </a:rPr>
              <a:t xml:space="preserve">145 triệu dòng Parquet (</a:t>
            </a:r>
            <a:r>
              <a:rPr lang="vi-VN" sz="1400" b="1" i="0" dirty="0">
                <a:solidFill>
                  <a:srgbClr val="262626"/>
                </a:solidFill>
                <a:latin typeface="Times New Roman"/>
                <a:ea typeface="Times New Roman"/>
                <a:cs typeface="Times New Roman"/>
                <a:sym typeface="Times New Roman"/>
              </a:rPr>
              <a:t xml:space="preserve">10,9 s</a:t>
            </a:r>
            <a:r>
              <a:rPr lang="vi-VN" sz="1400" b="0" i="0" dirty="0">
                <a:solidFill>
                  <a:srgbClr val="262626"/>
                </a:solidFill>
                <a:latin typeface="Times New Roman"/>
                <a:ea typeface="Times New Roman"/>
                <a:cs typeface="Times New Roman"/>
                <a:sym typeface="Times New Roman"/>
              </a:rPr>
              <a:t xml:space="preserve">) nhanh hơn 9,6 triệu dòng CSV (13,2 s)</a:t>
            </a:r>
          </a:p>
          <a:p>
            <a:pPr marL="285750" indent="-285750" algn="l">
              <a:lnSpc>
                <a:spcPct val="95000"/>
              </a:lnSpc>
              <a:spcBef>
                <a:spcPts val="900"/>
              </a:spcBef>
              <a:buClr>
                <a:srgbClr val="C00000"/>
              </a:buClr>
              <a:buSzPct val="100000"/>
              <a:buFont typeface="Arial"/>
              <a:buChar char="•"/>
            </a:pPr>
            <a:r>
              <a:rPr lang="vi-VN" sz="1400" b="0" i="0" dirty="0">
                <a:solidFill>
                  <a:srgbClr val="262626"/>
                </a:solidFill>
                <a:latin typeface="Times New Roman"/>
                <a:ea typeface="Times New Roman"/>
                <a:cs typeface="Times New Roman"/>
                <a:sym typeface="Times New Roman"/>
              </a:rPr>
              <a:t xml:space="preserve">Trung thực: </a:t>
            </a:r>
            <a:r>
              <a:rPr lang="vi-VN" sz="1400" b="0" i="0" dirty="0">
                <a:solidFill>
                  <a:srgbClr val="262626"/>
                </a:solidFill>
                <a:latin typeface="Courier New"/>
                <a:ea typeface="Courier New"/>
                <a:cs typeface="Courier New"/>
                <a:sym typeface="Courier New"/>
              </a:rPr>
              <a:t xml:space="preserve">sample()</a:t>
            </a:r>
            <a:r>
              <a:rPr lang="vi-VN" sz="1400" b="0" i="0" dirty="0">
                <a:solidFill>
                  <a:srgbClr val="262626"/>
                </a:solidFill>
                <a:latin typeface="Times New Roman"/>
                <a:ea typeface="Times New Roman"/>
                <a:cs typeface="Times New Roman"/>
                <a:sym typeface="Times New Roman"/>
              </a:rPr>
              <a:t xml:space="preserve"> vẫn quét toàn bộ nên chỉ nhanh ~2 lần; </a:t>
            </a:r>
            <a:r>
              <a:rPr lang="vi-VN" sz="1400" b="0" i="0" dirty="0">
                <a:solidFill>
                  <a:srgbClr val="262626"/>
                </a:solidFill>
                <a:latin typeface="Courier New"/>
                <a:ea typeface="Courier New"/>
                <a:cs typeface="Courier New"/>
                <a:sym typeface="Courier New"/>
              </a:rPr>
              <a:t xml:space="preserve">percentile_approx</a:t>
            </a:r>
            <a:r>
              <a:rPr lang="vi-VN" sz="1400" b="0" i="0" dirty="0">
                <a:solidFill>
                  <a:srgbClr val="262626"/>
                </a:solidFill>
                <a:latin typeface="Times New Roman"/>
                <a:ea typeface="Times New Roman"/>
                <a:cs typeface="Times New Roman"/>
                <a:sym typeface="Times New Roman"/>
              </a:rPr>
              <a:t xml:space="preserve"> </a:t>
            </a:r>
            <a:r>
              <a:rPr lang="vi-VN" sz="1400" b="1" i="0" dirty="0">
                <a:solidFill>
                  <a:srgbClr val="262626"/>
                </a:solidFill>
                <a:latin typeface="Times New Roman"/>
                <a:ea typeface="Times New Roman"/>
                <a:cs typeface="Times New Roman"/>
                <a:sym typeface="Times New Roman"/>
              </a:rPr>
              <a:t xml:space="preserve">chậm hơn</a:t>
            </a:r>
            <a:r>
              <a:rPr lang="vi-VN" sz="1400" b="0" i="0" dirty="0">
                <a:solidFill>
                  <a:srgbClr val="262626"/>
                </a:solidFill>
                <a:latin typeface="Times New Roman"/>
                <a:ea typeface="Times New Roman"/>
                <a:cs typeface="Times New Roman"/>
                <a:sym typeface="Times New Roman"/>
              </a:rPr>
              <a:t xml:space="preserve"> bản chính xác ở quy mô này</a:t>
            </a:r>
          </a:p>
        </p:txBody>
      </p:sp>
      <p:pic>
        <p:nvPicPr>
          <p:cNvPr id="16" name="Picture 15" descr="h3_scalability.png"/>
          <p:cNvPicPr>
            <a:picLocks noChangeAspect="1"/>
          </p:cNvPicPr>
          <p:nvPr/>
        </p:nvPicPr>
        <p:blipFill>
          <a:blip r:embed="rId2"/>
          <a:stretch>
            <a:fillRect/>
          </a:stretch>
        </p:blipFill>
        <p:spPr>
          <a:xfrm>
            <a:off x="228600" y="3383280"/>
            <a:ext cx="5194472" cy="26060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3"/>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Font typeface="Lato"/>
              <a:buNone/>
            </a:pPr>
            <a:r>
              <a:rPr lang="en-US" sz="2800">
                <a:solidFill>
                  <a:schemeClr val="dk1"/>
                </a:solidFill>
                <a:latin typeface="Times New Roman"/>
                <a:ea typeface="Times New Roman"/>
                <a:cs typeface="Times New Roman"/>
                <a:sym typeface="Times New Roman"/>
              </a:rPr>
              <a:t>Thống kê: nhịp giao thông của New York</a:t>
            </a:r>
            <a:endParaRPr>
              <a:latin typeface="Times New Roman"/>
              <a:ea typeface="Times New Roman"/>
              <a:cs typeface="Times New Roman"/>
              <a:sym typeface="Times New Roman"/>
            </a:endParaRPr>
          </a:p>
        </p:txBody>
      </p:sp>
      <p:sp>
        <p:nvSpPr>
          <p:cNvPr id="94" name="Google Shape;94;p3"/>
          <p:cNvSpPr txBox="1"/>
          <p:nvPr>
            <p:ph idx="1" type="body"/>
          </p:nvPr>
        </p:nvSpPr>
        <p:spPr>
          <a:xfrm>
            <a:off x="228600" y="868680"/>
            <a:ext cx="8686800" cy="2331720"/>
          </a:xfrm>
          <a:prstGeom prst="rect">
            <a:avLst/>
          </a:prstGeom>
          <a:noFill/>
          <a:ln>
            <a:noFill/>
          </a:ln>
        </p:spPr>
        <p:txBody>
          <a:bodyPr anchorCtr="0" anchor="t" bIns="45700" lIns="91425" spcFirstLastPara="1" rIns="91425" wrap="square" tIns="45700">
            <a:noAutofit/>
          </a:bodyPr>
          <a:lstStyle/>
          <a:p>
            <a:pPr marL="285750" indent="-285750" algn="l">
              <a:lnSpc>
                <a:spcPct val="95000"/>
              </a:lnSpc>
              <a:spcBef>
                <a:spcPts val="0"/>
              </a:spcBef>
              <a:buClr>
                <a:srgbClr val="C00000"/>
              </a:buClr>
              <a:buSzPct val="100000"/>
              <a:buFont typeface="Arial"/>
              <a:buChar char="•"/>
            </a:pPr>
            <a:r>
              <a:rPr lang="vi-VN" sz="1600" b="0" i="0" dirty="0">
                <a:solidFill>
                  <a:srgbClr val="262626"/>
                </a:solidFill>
                <a:latin typeface="Times New Roman"/>
                <a:ea typeface="Times New Roman"/>
                <a:cs typeface="Times New Roman"/>
                <a:sym typeface="Times New Roman"/>
              </a:rPr>
              <a:t xml:space="preserve">count/mean/std/min/max/median theo </a:t>
            </a:r>
            <a:r>
              <a:rPr lang="vi-VN" sz="1600" b="1" i="0" dirty="0">
                <a:solidFill>
                  <a:srgbClr val="262626"/>
                </a:solidFill>
                <a:latin typeface="Times New Roman"/>
                <a:ea typeface="Times New Roman"/>
                <a:cs typeface="Times New Roman"/>
                <a:sym typeface="Times New Roman"/>
              </a:rPr>
              <a:t xml:space="preserve">9 chiều</a:t>
            </a:r>
            <a:r>
              <a:rPr lang="vi-VN" sz="1600" b="0" i="0" dirty="0">
                <a:solidFill>
                  <a:srgbClr val="262626"/>
                </a:solidFill>
                <a:latin typeface="Times New Roman"/>
                <a:ea typeface="Times New Roman"/>
                <a:cs typeface="Times New Roman"/>
                <a:sym typeface="Times New Roman"/>
              </a:rPr>
              <a:t xml:space="preserve">, 419 dòng; kiểm tra chéo pandas = Spark</a:t>
            </a:r>
          </a:p>
          <a:p>
            <a:pPr marL="285750" indent="-285750" algn="l">
              <a:lnSpc>
                <a:spcPct val="95000"/>
              </a:lnSpc>
              <a:spcBef>
                <a:spcPts val="900"/>
              </a:spcBef>
              <a:buClr>
                <a:srgbClr val="C00000"/>
              </a:buClr>
              <a:buSzPct val="100000"/>
              <a:buFont typeface="Arial"/>
              <a:buChar char="•"/>
            </a:pPr>
            <a:r>
              <a:rPr lang="vi-VN" sz="1600" b="0" i="0" dirty="0">
                <a:solidFill>
                  <a:srgbClr val="262626"/>
                </a:solidFill>
                <a:latin typeface="Times New Roman"/>
                <a:ea typeface="Times New Roman"/>
                <a:cs typeface="Times New Roman"/>
                <a:sym typeface="Times New Roman"/>
              </a:rPr>
              <a:t xml:space="preserve">Ngày thường 2 đỉnh lưu lượng (7–8h, 15–17h); chậm nhất </a:t>
            </a:r>
            <a:r>
              <a:rPr lang="vi-VN" sz="1600" b="1" i="0" dirty="0">
                <a:solidFill>
                  <a:srgbClr val="C00000"/>
                </a:solidFill>
                <a:latin typeface="Times New Roman"/>
                <a:ea typeface="Times New Roman"/>
                <a:cs typeface="Times New Roman"/>
                <a:sym typeface="Times New Roman"/>
              </a:rPr>
              <a:t xml:space="preserve">16h: 44,1 km/h</a:t>
            </a:r>
            <a:r>
              <a:rPr lang="vi-VN" sz="1600" b="0" i="0" dirty="0">
                <a:solidFill>
                  <a:srgbClr val="262626"/>
                </a:solidFill>
                <a:latin typeface="Times New Roman"/>
                <a:ea typeface="Times New Roman"/>
                <a:cs typeface="Times New Roman"/>
                <a:sym typeface="Times New Roman"/>
              </a:rPr>
              <a:t xml:space="preserve">; cuối tuần không có cao điểm sáng</a:t>
            </a:r>
          </a:p>
          <a:p>
            <a:pPr marL="285750" indent="-285750" algn="l">
              <a:lnSpc>
                <a:spcPct val="95000"/>
              </a:lnSpc>
              <a:spcBef>
                <a:spcPts val="900"/>
              </a:spcBef>
              <a:buClr>
                <a:srgbClr val="C00000"/>
              </a:buClr>
              <a:buSzPct val="100000"/>
              <a:buFont typeface="Arial"/>
              <a:buChar char="•"/>
            </a:pPr>
            <a:r>
              <a:rPr lang="vi-VN" sz="1600" b="0" i="0" dirty="0">
                <a:solidFill>
                  <a:srgbClr val="262626"/>
                </a:solidFill>
                <a:latin typeface="Times New Roman"/>
                <a:ea typeface="Times New Roman"/>
                <a:cs typeface="Times New Roman"/>
                <a:sym typeface="Times New Roman"/>
              </a:rPr>
              <a:t xml:space="preserve">Manhattan chậm nhất (</a:t>
            </a:r>
            <a:r>
              <a:rPr lang="vi-VN" sz="1600" b="1" i="0" dirty="0">
                <a:solidFill>
                  <a:srgbClr val="262626"/>
                </a:solidFill>
                <a:latin typeface="Times New Roman"/>
                <a:ea typeface="Times New Roman"/>
                <a:cs typeface="Times New Roman"/>
                <a:sym typeface="Times New Roman"/>
              </a:rPr>
              <a:t xml:space="preserve">40,5 km/h</a:t>
            </a:r>
            <a:r>
              <a:rPr lang="vi-VN" sz="1600" b="0" i="0" dirty="0">
                <a:solidFill>
                  <a:srgbClr val="262626"/>
                </a:solidFill>
                <a:latin typeface="Times New Roman"/>
                <a:ea typeface="Times New Roman"/>
                <a:cs typeface="Times New Roman"/>
                <a:sym typeface="Times New Roman"/>
              </a:rPr>
              <a:t xml:space="preserve">), Staten Island nhanh nhất (</a:t>
            </a:r>
            <a:r>
              <a:rPr lang="vi-VN" sz="1600" b="1" i="0" dirty="0">
                <a:solidFill>
                  <a:srgbClr val="262626"/>
                </a:solidFill>
                <a:latin typeface="Times New Roman"/>
                <a:ea typeface="Times New Roman"/>
                <a:cs typeface="Times New Roman"/>
                <a:sym typeface="Times New Roman"/>
              </a:rPr>
              <a:t xml:space="preserve">79,4 km/h</a:t>
            </a:r>
            <a:r>
              <a:rPr lang="vi-VN" sz="1600" b="0" i="0" dirty="0">
                <a:solidFill>
                  <a:srgbClr val="262626"/>
                </a:solidFill>
                <a:latin typeface="Times New Roman"/>
                <a:ea typeface="Times New Roman"/>
                <a:cs typeface="Times New Roman"/>
                <a:sym typeface="Times New Roman"/>
              </a:rPr>
              <a:t xml:space="preserve">)</a:t>
            </a:r>
          </a:p>
          <a:p>
            <a:pPr marL="285750" indent="-285750" algn="l">
              <a:lnSpc>
                <a:spcPct val="95000"/>
              </a:lnSpc>
              <a:spcBef>
                <a:spcPts val="900"/>
              </a:spcBef>
              <a:buClr>
                <a:srgbClr val="C00000"/>
              </a:buClr>
              <a:buSzPct val="100000"/>
              <a:buFont typeface="Arial"/>
              <a:buChar char="•"/>
            </a:pPr>
            <a:r>
              <a:rPr lang="vi-VN" sz="1600" b="0" i="0" dirty="0">
                <a:solidFill>
                  <a:srgbClr val="262626"/>
                </a:solidFill>
                <a:latin typeface="Times New Roman"/>
                <a:ea typeface="Times New Roman"/>
                <a:cs typeface="Times New Roman"/>
                <a:sym typeface="Times New Roman"/>
              </a:rPr>
              <a:t xml:space="preserve">Cross Bronx Expressway biến động lớn nhất (std 33,8 km/h)</a:t>
            </a:r>
          </a:p>
        </p:txBody>
      </p:sp>
      <p:pic>
        <p:nvPicPr>
          <p:cNvPr id="95" name="Picture 94" descr="h2_theo_gio.png"/>
          <p:cNvPicPr>
            <a:picLocks noChangeAspect="1"/>
          </p:cNvPicPr>
          <p:nvPr/>
        </p:nvPicPr>
        <p:blipFill>
          <a:blip r:embed="rId2"/>
          <a:stretch>
            <a:fillRect/>
          </a:stretch>
        </p:blipFill>
        <p:spPr>
          <a:xfrm>
            <a:off x="457200" y="3154680"/>
            <a:ext cx="8229600" cy="2909455"/>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latin typeface="Times New Roman"/>
                <a:ea typeface="Times New Roman"/>
                <a:cs typeface="Times New Roman"/>
                <a:sym typeface="Times New Roman"/>
              </a:rPr>
              <a:t>Thời tiết: vì sao "tuyết làm xe chạy nhanh hơn"?</a:t>
            </a:r>
          </a:p>
        </p:txBody>
      </p:sp>
      <p:sp>
        <p:nvSpPr>
          <p:cNvPr id="4" name="Ghi chu"/>
          <p:cNvSpPr txBox="1"/>
          <p:nvPr/>
        </p:nvSpPr>
        <p:spPr>
          <a:xfrm>
            <a:off x="5394960" y="2697480"/>
            <a:ext cx="3566160" cy="3474720"/>
          </a:xfrm>
          <a:prstGeom prst="rect">
            <a:avLst/>
          </a:prstGeom>
          <a:noFill/>
        </p:spPr>
        <p:txBody>
          <a:bodyPr wrap="square" anchor="t" lIns="0" rIns="0" tIns="0" bIns="0">
            <a:spAutoFit/>
          </a:bodyPr>
          <a:lstStyle/>
          <a:p>
            <a:pPr marL="285750" indent="-285750" algn="l">
              <a:lnSpc>
                <a:spcPct val="95000"/>
              </a:lnSpc>
              <a:spcBef>
                <a:spcPts val="0"/>
              </a:spcBef>
              <a:buClr>
                <a:srgbClr val="C00000"/>
              </a:buClr>
              <a:buSzPct val="100000"/>
              <a:buFont typeface="Arial"/>
              <a:buChar char="•"/>
            </a:pPr>
            <a:r>
              <a:rPr lang="vi-VN" sz="1400" b="1" i="0" dirty="0">
                <a:solidFill>
                  <a:srgbClr val="262626"/>
                </a:solidFill>
                <a:latin typeface="Times New Roman"/>
                <a:ea typeface="Times New Roman"/>
                <a:cs typeface="Times New Roman"/>
                <a:sym typeface="Times New Roman"/>
              </a:rPr>
              <a:t xml:space="preserve">Biến gây nhiễu:</a:t>
            </a:r>
            <a:r>
              <a:rPr lang="vi-VN" sz="1400" b="0" i="0" dirty="0">
                <a:solidFill>
                  <a:srgbClr val="262626"/>
                </a:solidFill>
                <a:latin typeface="Times New Roman"/>
                <a:ea typeface="Times New Roman"/>
                <a:cs typeface="Times New Roman"/>
                <a:sym typeface="Times New Roman"/>
              </a:rPr>
              <a:t xml:space="preserve"> tuyết chỉ rơi tháng 1, 2, 12, mà mùa đông vốn vắng xe</a:t>
            </a:r>
          </a:p>
          <a:p>
            <a:pPr marL="285750" indent="-285750" algn="l">
              <a:lnSpc>
                <a:spcPct val="95000"/>
              </a:lnSpc>
              <a:spcBef>
                <a:spcPts val="900"/>
              </a:spcBef>
              <a:buClr>
                <a:srgbClr val="C00000"/>
              </a:buClr>
              <a:buSzPct val="100000"/>
              <a:buFont typeface="Arial"/>
              <a:buChar char="•"/>
            </a:pPr>
            <a:r>
              <a:rPr lang="vi-VN" sz="1400" b="0" i="0" dirty="0">
                <a:solidFill>
                  <a:srgbClr val="262626"/>
                </a:solidFill>
                <a:latin typeface="Times New Roman"/>
                <a:ea typeface="Times New Roman"/>
                <a:cs typeface="Times New Roman"/>
                <a:sym typeface="Times New Roman"/>
              </a:rPr>
              <a:t xml:space="preserve">So mỗi bản ghi với </a:t>
            </a:r>
            <a:r>
              <a:rPr lang="vi-VN" sz="1400" b="1" i="0" dirty="0">
                <a:solidFill>
                  <a:srgbClr val="262626"/>
                </a:solidFill>
                <a:latin typeface="Times New Roman"/>
                <a:ea typeface="Times New Roman"/>
                <a:cs typeface="Times New Roman"/>
                <a:sym typeface="Times New Roman"/>
              </a:rPr>
              <a:t xml:space="preserve">chính đường đó, cùng giờ, cùng loại ngày, cùng tháng, lúc khô ráo</a:t>
            </a:r>
          </a:p>
          <a:p>
            <a:pPr marL="285750" indent="-285750" algn="l">
              <a:lnSpc>
                <a:spcPct val="95000"/>
              </a:lnSpc>
              <a:spcBef>
                <a:spcPts val="900"/>
              </a:spcBef>
              <a:buClr>
                <a:srgbClr val="C00000"/>
              </a:buClr>
              <a:buSzPct val="100000"/>
              <a:buFont typeface="Arial"/>
              <a:buChar char="•"/>
            </a:pPr>
            <a:r>
              <a:rPr lang="vi-VN" sz="1400" b="0" i="0" dirty="0">
                <a:solidFill>
                  <a:srgbClr val="262626"/>
                </a:solidFill>
                <a:latin typeface="Times New Roman"/>
                <a:ea typeface="Times New Roman"/>
                <a:cs typeface="Times New Roman"/>
                <a:sym typeface="Times New Roman"/>
              </a:rPr>
              <a:t xml:space="preserve">Mưa giờ cao điểm: </a:t>
            </a:r>
            <a:r>
              <a:rPr lang="vi-VN" sz="1400" b="1" i="0" dirty="0">
                <a:solidFill>
                  <a:srgbClr val="C00000"/>
                </a:solidFill>
                <a:latin typeface="Times New Roman"/>
                <a:ea typeface="Times New Roman"/>
                <a:cs typeface="Times New Roman"/>
                <a:sym typeface="Times New Roman"/>
              </a:rPr>
              <a:t xml:space="preserve">−8,4%</a:t>
            </a:r>
            <a:r>
              <a:rPr lang="vi-VN" sz="1400" b="0" i="0" dirty="0">
                <a:solidFill>
                  <a:srgbClr val="262626"/>
                </a:solidFill>
                <a:latin typeface="Times New Roman"/>
                <a:ea typeface="Times New Roman"/>
                <a:cs typeface="Times New Roman"/>
                <a:sym typeface="Times New Roman"/>
              </a:rPr>
              <a:t xml:space="preserve">, gấp đôi ngoài cao điểm</a:t>
            </a:r>
          </a:p>
          <a:p>
            <a:pPr marL="285750" indent="-285750" algn="l">
              <a:lnSpc>
                <a:spcPct val="95000"/>
              </a:lnSpc>
              <a:spcBef>
                <a:spcPts val="900"/>
              </a:spcBef>
              <a:buClr>
                <a:srgbClr val="C00000"/>
              </a:buClr>
              <a:buSzPct val="100000"/>
              <a:buFont typeface="Arial"/>
              <a:buChar char="•"/>
            </a:pPr>
            <a:r>
              <a:rPr lang="vi-VN" sz="1400" b="0" i="0" dirty="0">
                <a:solidFill>
                  <a:srgbClr val="262626"/>
                </a:solidFill>
                <a:latin typeface="Times New Roman"/>
                <a:ea typeface="Times New Roman"/>
                <a:cs typeface="Times New Roman"/>
                <a:sym typeface="Times New Roman"/>
              </a:rPr>
              <a:t xml:space="preserve">Pearson mưa–tốc độ chỉ −0,02 dù có tác động</a:t>
            </a:r>
          </a:p>
        </p:txBody>
      </p:sp>
      <p:graphicFrame>
        <p:nvGraphicFramePr>
          <p:cNvPr id="5" name="Table 4"/>
          <p:cNvGraphicFramePr>
            <a:graphicFrameLocks noGrp="1"/>
          </p:cNvGraphicFramePr>
          <p:nvPr/>
        </p:nvGraphicFramePr>
        <p:xfrm>
          <a:off x="228600" y="868680"/>
          <a:ext cx="8686800" cy="1645920"/>
        </p:xfrm>
        <a:graphic>
          <a:graphicData uri="http://schemas.openxmlformats.org/drawingml/2006/table">
            <a:tbl>
              <a:tblPr firstRow="1" bandRow="0"/>
              <a:tblGrid>
                <a:gridCol w="1645920"/>
                <a:gridCol w="1828800"/>
                <a:gridCol w="2926080"/>
                <a:gridCol w="2286000"/>
              </a:tblGrid>
              <a:tr h="411480">
                <a:tc>
                  <a:txBody>
                    <a:bodyPr wrap="square"/>
                    <a:lstStyle/>
                    <a:p>
                      <a:pPr algn="ctr"/>
                      <a:r>
                        <a:rPr lang="vi-VN" sz="1500" b="1" i="0" dirty="0">
                          <a:solidFill>
                            <a:srgbClr val="FFFFFF"/>
                          </a:solidFill>
                          <a:latin typeface="Times New Roman"/>
                          <a:ea typeface="Times New Roman"/>
                          <a:cs typeface="Times New Roman"/>
                          <a:sym typeface="Times New Roman"/>
                        </a:rPr>
                        <a:t xml:space="preserve">Thời tiết</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c>
                  <a:txBody>
                    <a:bodyPr wrap="square"/>
                    <a:lstStyle/>
                    <a:p>
                      <a:pPr algn="ctr"/>
                      <a:r>
                        <a:rPr lang="vi-VN" sz="1500" b="1" i="0" dirty="0">
                          <a:solidFill>
                            <a:srgbClr val="FFFFFF"/>
                          </a:solidFill>
                          <a:latin typeface="Times New Roman"/>
                          <a:ea typeface="Times New Roman"/>
                          <a:cs typeface="Times New Roman"/>
                          <a:sym typeface="Times New Roman"/>
                        </a:rPr>
                        <a:t xml:space="preserve">So sánh thô</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c>
                  <a:txBody>
                    <a:bodyPr wrap="square"/>
                    <a:lstStyle/>
                    <a:p>
                      <a:pPr algn="ctr"/>
                      <a:r>
                        <a:rPr lang="vi-VN" sz="1500" b="1" i="0" dirty="0">
                          <a:solidFill>
                            <a:srgbClr val="FFFFFF"/>
                          </a:solidFill>
                          <a:latin typeface="Times New Roman"/>
                          <a:ea typeface="Times New Roman"/>
                          <a:cs typeface="Times New Roman"/>
                          <a:sym typeface="Times New Roman"/>
                        </a:rPr>
                        <a:t xml:space="preserve">Kiểm soát đường, giờ, loại ngày</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c>
                  <a:txBody>
                    <a:bodyPr wrap="square"/>
                    <a:lstStyle/>
                    <a:p>
                      <a:pPr algn="ctr"/>
                      <a:r>
                        <a:rPr lang="vi-VN" sz="1500" b="1" i="0" dirty="0">
                          <a:solidFill>
                            <a:srgbClr val="FFFFFF"/>
                          </a:solidFill>
                          <a:latin typeface="Times New Roman"/>
                          <a:ea typeface="Times New Roman"/>
                          <a:cs typeface="Times New Roman"/>
                          <a:sym typeface="Times New Roman"/>
                        </a:rPr>
                        <a:t xml:space="preserve">Kiểm soát thêm tháng</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r>
              <a:tr h="411480">
                <a:tc>
                  <a:txBody>
                    <a:bodyPr wrap="square"/>
                    <a:lstStyle/>
                    <a:p>
                      <a:pPr algn="l"/>
                      <a:r>
                        <a:rPr lang="vi-VN" sz="1500" b="1" i="0" dirty="0">
                          <a:solidFill>
                            <a:srgbClr val="262626"/>
                          </a:solidFill>
                          <a:latin typeface="Times New Roman"/>
                          <a:ea typeface="Times New Roman"/>
                          <a:cs typeface="Times New Roman"/>
                          <a:sym typeface="Times New Roman"/>
                        </a:rPr>
                        <a:t xml:space="preserve">Rain</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wrap="square"/>
                    <a:lstStyle/>
                    <a:p>
                      <a:pPr algn="ctr"/>
                      <a:r>
                        <a:rPr lang="vi-VN" sz="1500" b="0" i="0" dirty="0">
                          <a:solidFill>
                            <a:srgbClr val="262626"/>
                          </a:solidFill>
                          <a:latin typeface="Times New Roman"/>
                          <a:ea typeface="Times New Roman"/>
                          <a:cs typeface="Times New Roman"/>
                          <a:sym typeface="Times New Roman"/>
                        </a:rPr>
                        <a:t xml:space="preserve">−6,6%</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wrap="square"/>
                    <a:lstStyle/>
                    <a:p>
                      <a:pPr algn="ctr"/>
                      <a:r>
                        <a:rPr lang="vi-VN" sz="1500" b="0" i="0" dirty="0">
                          <a:solidFill>
                            <a:srgbClr val="262626"/>
                          </a:solidFill>
                          <a:latin typeface="Times New Roman"/>
                          <a:ea typeface="Times New Roman"/>
                          <a:cs typeface="Times New Roman"/>
                          <a:sym typeface="Times New Roman"/>
                        </a:rPr>
                        <a:t xml:space="preserve">−4,8%</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wrap="square"/>
                    <a:lstStyle/>
                    <a:p>
                      <a:pPr algn="ctr"/>
                      <a:r>
                        <a:rPr lang="vi-VN" sz="1500" b="1" i="0" dirty="0">
                          <a:solidFill>
                            <a:srgbClr val="262626"/>
                          </a:solidFill>
                          <a:latin typeface="Times New Roman"/>
                          <a:ea typeface="Times New Roman"/>
                          <a:cs typeface="Times New Roman"/>
                          <a:sym typeface="Times New Roman"/>
                        </a:rPr>
                        <a:t xml:space="preserve">−4,6%</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r h="411480">
                <a:tc>
                  <a:txBody>
                    <a:bodyPr wrap="square"/>
                    <a:lstStyle/>
                    <a:p>
                      <a:pPr algn="l"/>
                      <a:r>
                        <a:rPr lang="vi-VN" sz="1500" b="1" i="0" dirty="0">
                          <a:solidFill>
                            <a:srgbClr val="262626"/>
                          </a:solidFill>
                          <a:latin typeface="Times New Roman"/>
                          <a:ea typeface="Times New Roman"/>
                          <a:cs typeface="Times New Roman"/>
                          <a:sym typeface="Times New Roman"/>
                        </a:rPr>
                        <a:t xml:space="preserve">Drizzle</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7ECEC"/>
                    </a:solidFill>
                  </a:tcPr>
                </a:tc>
                <a:tc>
                  <a:txBody>
                    <a:bodyPr wrap="square"/>
                    <a:lstStyle/>
                    <a:p>
                      <a:pPr algn="ctr"/>
                      <a:r>
                        <a:rPr lang="vi-VN" sz="1500" b="0" i="0" dirty="0">
                          <a:solidFill>
                            <a:srgbClr val="262626"/>
                          </a:solidFill>
                          <a:latin typeface="Times New Roman"/>
                          <a:ea typeface="Times New Roman"/>
                          <a:cs typeface="Times New Roman"/>
                          <a:sym typeface="Times New Roman"/>
                        </a:rPr>
                        <a:t xml:space="preserve">−5,4%</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7ECEC"/>
                    </a:solidFill>
                  </a:tcPr>
                </a:tc>
                <a:tc>
                  <a:txBody>
                    <a:bodyPr wrap="square"/>
                    <a:lstStyle/>
                    <a:p>
                      <a:pPr algn="ctr"/>
                      <a:r>
                        <a:rPr lang="vi-VN" sz="1500" b="0" i="0" dirty="0">
                          <a:solidFill>
                            <a:srgbClr val="262626"/>
                          </a:solidFill>
                          <a:latin typeface="Times New Roman"/>
                          <a:ea typeface="Times New Roman"/>
                          <a:cs typeface="Times New Roman"/>
                          <a:sym typeface="Times New Roman"/>
                        </a:rPr>
                        <a:t xml:space="preserve">−2,7%</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7ECEC"/>
                    </a:solidFill>
                  </a:tcPr>
                </a:tc>
                <a:tc>
                  <a:txBody>
                    <a:bodyPr wrap="square"/>
                    <a:lstStyle/>
                    <a:p>
                      <a:pPr algn="ctr"/>
                      <a:r>
                        <a:rPr lang="vi-VN" sz="1500" b="1" i="0" dirty="0">
                          <a:solidFill>
                            <a:srgbClr val="262626"/>
                          </a:solidFill>
                          <a:latin typeface="Times New Roman"/>
                          <a:ea typeface="Times New Roman"/>
                          <a:cs typeface="Times New Roman"/>
                          <a:sym typeface="Times New Roman"/>
                        </a:rPr>
                        <a:t xml:space="preserve">−2,4%</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7ECEC"/>
                    </a:solidFill>
                  </a:tcPr>
                </a:tc>
              </a:tr>
              <a:tr h="411480">
                <a:tc>
                  <a:txBody>
                    <a:bodyPr wrap="square"/>
                    <a:lstStyle/>
                    <a:p>
                      <a:pPr algn="l"/>
                      <a:r>
                        <a:rPr lang="vi-VN" sz="1500" b="1" i="0" dirty="0">
                          <a:solidFill>
                            <a:srgbClr val="262626"/>
                          </a:solidFill>
                          <a:latin typeface="Times New Roman"/>
                          <a:ea typeface="Times New Roman"/>
                          <a:cs typeface="Times New Roman"/>
                          <a:sym typeface="Times New Roman"/>
                        </a:rPr>
                        <a:t xml:space="preserve">Snow</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2C9C9"/>
                    </a:solidFill>
                  </a:tcPr>
                </a:tc>
                <a:tc>
                  <a:txBody>
                    <a:bodyPr wrap="square"/>
                    <a:lstStyle/>
                    <a:p>
                      <a:pPr algn="ctr"/>
                      <a:r>
                        <a:rPr lang="vi-VN" sz="1500" b="1" i="0" dirty="0">
                          <a:solidFill>
                            <a:srgbClr val="C00000"/>
                          </a:solidFill>
                          <a:latin typeface="Times New Roman"/>
                          <a:ea typeface="Times New Roman"/>
                          <a:cs typeface="Times New Roman"/>
                          <a:sym typeface="Times New Roman"/>
                        </a:rPr>
                        <a:t xml:space="preserve">+0,6%</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2C9C9"/>
                    </a:solidFill>
                  </a:tcPr>
                </a:tc>
                <a:tc>
                  <a:txBody>
                    <a:bodyPr wrap="square"/>
                    <a:lstStyle/>
                    <a:p>
                      <a:pPr algn="ctr"/>
                      <a:r>
                        <a:rPr lang="vi-VN" sz="1500" b="1" i="0" dirty="0">
                          <a:solidFill>
                            <a:srgbClr val="C00000"/>
                          </a:solidFill>
                          <a:latin typeface="Times New Roman"/>
                          <a:ea typeface="Times New Roman"/>
                          <a:cs typeface="Times New Roman"/>
                          <a:sym typeface="Times New Roman"/>
                        </a:rPr>
                        <a:t xml:space="preserve">+5,8%</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2C9C9"/>
                    </a:solidFill>
                  </a:tcPr>
                </a:tc>
                <a:tc>
                  <a:txBody>
                    <a:bodyPr wrap="square"/>
                    <a:lstStyle/>
                    <a:p>
                      <a:pPr algn="ctr"/>
                      <a:r>
                        <a:rPr lang="vi-VN" sz="1500" b="1" i="0" dirty="0">
                          <a:solidFill>
                            <a:srgbClr val="262626"/>
                          </a:solidFill>
                          <a:latin typeface="Times New Roman"/>
                          <a:ea typeface="Times New Roman"/>
                          <a:cs typeface="Times New Roman"/>
                          <a:sym typeface="Times New Roman"/>
                        </a:rPr>
                        <a:t xml:space="preserve">−0,1%</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2C9C9"/>
                    </a:solidFill>
                  </a:tcPr>
                </a:tc>
              </a:tr>
            </a:tbl>
          </a:graphicData>
        </a:graphic>
      </p:graphicFrame>
      <p:pic>
        <p:nvPicPr>
          <p:cNvPr id="6" name="Picture 5" descr="h4_thoi_tiet.png"/>
          <p:cNvPicPr>
            <a:picLocks noChangeAspect="1"/>
          </p:cNvPicPr>
          <p:nvPr/>
        </p:nvPicPr>
        <p:blipFill>
          <a:blip r:embed="rId2"/>
          <a:stretch>
            <a:fillRect/>
          </a:stretch>
        </p:blipFill>
        <p:spPr>
          <a:xfrm>
            <a:off x="228600" y="2743200"/>
            <a:ext cx="5029200" cy="237867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3"/>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Font typeface="Lato"/>
              <a:buNone/>
            </a:pPr>
            <a:r>
              <a:rPr lang="en-US" sz="2800">
                <a:solidFill>
                  <a:schemeClr val="dk1"/>
                </a:solidFill>
                <a:latin typeface="Times New Roman"/>
                <a:ea typeface="Times New Roman"/>
                <a:cs typeface="Times New Roman"/>
                <a:sym typeface="Times New Roman"/>
              </a:rPr>
              <a:t>Phát hiện bất thường bằng Z-score theo ngữ cảnh</a:t>
            </a:r>
            <a:endParaRPr>
              <a:latin typeface="Times New Roman"/>
              <a:ea typeface="Times New Roman"/>
              <a:cs typeface="Times New Roman"/>
              <a:sym typeface="Times New Roman"/>
            </a:endParaRPr>
          </a:p>
        </p:txBody>
      </p:sp>
      <p:sp>
        <p:nvSpPr>
          <p:cNvPr id="94" name="Google Shape;94;p3"/>
          <p:cNvSpPr txBox="1"/>
          <p:nvPr>
            <p:ph idx="1" type="body"/>
          </p:nvPr>
        </p:nvSpPr>
        <p:spPr>
          <a:xfrm>
            <a:off x="228600" y="868680"/>
            <a:ext cx="8686800" cy="2560320"/>
          </a:xfrm>
          <a:prstGeom prst="rect">
            <a:avLst/>
          </a:prstGeom>
          <a:noFill/>
          <a:ln>
            <a:noFill/>
          </a:ln>
        </p:spPr>
        <p:txBody>
          <a:bodyPr anchorCtr="0" anchor="t" bIns="45700" lIns="91425" spcFirstLastPara="1" rIns="91425" wrap="square" tIns="45700">
            <a:noAutofit/>
          </a:bodyPr>
          <a:lstStyle/>
          <a:p>
            <a:pPr marL="285750" indent="-285750" algn="l">
              <a:lnSpc>
                <a:spcPct val="95000"/>
              </a:lnSpc>
              <a:spcBef>
                <a:spcPts val="0"/>
              </a:spcBef>
              <a:buClr>
                <a:srgbClr val="C00000"/>
              </a:buClr>
              <a:buSzPct val="100000"/>
              <a:buFont typeface="Arial"/>
              <a:buChar char="•"/>
            </a:pPr>
            <a:r>
              <a:rPr lang="vi-VN" sz="1600" b="0" i="0" dirty="0">
                <a:solidFill>
                  <a:srgbClr val="262626"/>
                </a:solidFill>
                <a:latin typeface="Courier New"/>
                <a:ea typeface="Courier New"/>
                <a:cs typeface="Courier New"/>
                <a:sym typeface="Courier New"/>
              </a:rPr>
              <a:t xml:space="preserve">z = (x − mean) / std</a:t>
            </a:r>
            <a:r>
              <a:rPr lang="vi-VN" sz="1600" b="0" i="0" dirty="0">
                <a:solidFill>
                  <a:srgbClr val="262626"/>
                </a:solidFill>
                <a:latin typeface="Times New Roman"/>
                <a:ea typeface="Times New Roman"/>
                <a:cs typeface="Times New Roman"/>
                <a:sym typeface="Times New Roman"/>
              </a:rPr>
              <a:t xml:space="preserve">, |z| &gt; 3; mean/std theo </a:t>
            </a:r>
            <a:r>
              <a:rPr lang="vi-VN" sz="1600" b="1" i="0" dirty="0">
                <a:solidFill>
                  <a:srgbClr val="262626"/>
                </a:solidFill>
                <a:latin typeface="Times New Roman"/>
                <a:ea typeface="Times New Roman"/>
                <a:cs typeface="Times New Roman"/>
                <a:sym typeface="Times New Roman"/>
              </a:rPr>
              <a:t xml:space="preserve">cùng đường × giờ × loại ngày</a:t>
            </a:r>
            <a:r>
              <a:rPr lang="vi-VN" sz="1600" b="0" i="0" dirty="0">
                <a:solidFill>
                  <a:srgbClr val="262626"/>
                </a:solidFill>
                <a:latin typeface="Times New Roman"/>
                <a:ea typeface="Times New Roman"/>
                <a:cs typeface="Times New Roman"/>
                <a:sym typeface="Times New Roman"/>
              </a:rPr>
              <a:t xml:space="preserve">, tính </a:t>
            </a:r>
            <a:r>
              <a:rPr lang="vi-VN" sz="1600" b="1" i="0" dirty="0">
                <a:solidFill>
                  <a:srgbClr val="262626"/>
                </a:solidFill>
                <a:latin typeface="Times New Roman"/>
                <a:ea typeface="Times New Roman"/>
                <a:cs typeface="Times New Roman"/>
                <a:sym typeface="Times New Roman"/>
              </a:rPr>
              <a:t xml:space="preserve">leave-one-out</a:t>
            </a:r>
          </a:p>
          <a:p>
            <a:pPr marL="285750" indent="-285750" algn="l">
              <a:lnSpc>
                <a:spcPct val="95000"/>
              </a:lnSpc>
              <a:spcBef>
                <a:spcPts val="900"/>
              </a:spcBef>
              <a:buClr>
                <a:srgbClr val="C00000"/>
              </a:buClr>
              <a:buSzPct val="100000"/>
              <a:buFont typeface="Arial"/>
              <a:buChar char="•"/>
            </a:pPr>
            <a:r>
              <a:rPr lang="vi-VN" sz="1600" b="0" i="0" dirty="0">
                <a:solidFill>
                  <a:srgbClr val="262626"/>
                </a:solidFill>
                <a:latin typeface="Times New Roman"/>
                <a:ea typeface="Times New Roman"/>
                <a:cs typeface="Times New Roman"/>
                <a:sym typeface="Times New Roman"/>
              </a:rPr>
              <a:t xml:space="preserve">Giới hạn toán học |z| ≤ (n−1)/√n → ô dưới 11 giá trị không bao giờ vượt 3</a:t>
            </a:r>
          </a:p>
          <a:p>
            <a:pPr marL="285750" indent="-285750" algn="l">
              <a:lnSpc>
                <a:spcPct val="95000"/>
              </a:lnSpc>
              <a:spcBef>
                <a:spcPts val="900"/>
              </a:spcBef>
              <a:buClr>
                <a:srgbClr val="C00000"/>
              </a:buClr>
              <a:buSzPct val="100000"/>
              <a:buFont typeface="Arial"/>
              <a:buChar char="•"/>
            </a:pPr>
            <a:r>
              <a:rPr lang="vi-VN" sz="1600" b="0" i="0" dirty="0">
                <a:solidFill>
                  <a:srgbClr val="262626"/>
                </a:solidFill>
                <a:latin typeface="Times New Roman"/>
                <a:ea typeface="Times New Roman"/>
                <a:cs typeface="Times New Roman"/>
                <a:sym typeface="Times New Roman"/>
              </a:rPr>
              <a:t xml:space="preserve">Kiểm chứng trên mock có đáp án: toàn cục bắt </a:t>
            </a:r>
            <a:r>
              <a:rPr lang="vi-VN" sz="1600" b="1" i="0" dirty="0">
                <a:solidFill>
                  <a:srgbClr val="262626"/>
                </a:solidFill>
                <a:latin typeface="Times New Roman"/>
                <a:ea typeface="Times New Roman"/>
                <a:cs typeface="Times New Roman"/>
                <a:sym typeface="Times New Roman"/>
              </a:rPr>
              <a:t xml:space="preserve">2%</a:t>
            </a:r>
            <a:r>
              <a:rPr lang="vi-VN" sz="1600" b="0" i="0" dirty="0">
                <a:solidFill>
                  <a:srgbClr val="262626"/>
                </a:solidFill>
                <a:latin typeface="Times New Roman"/>
                <a:ea typeface="Times New Roman"/>
                <a:cs typeface="Times New Roman"/>
                <a:sym typeface="Times New Roman"/>
              </a:rPr>
              <a:t xml:space="preserve">, theo ngữ cảnh bắt </a:t>
            </a:r>
            <a:r>
              <a:rPr lang="vi-VN" sz="1600" b="1" i="0" dirty="0">
                <a:solidFill>
                  <a:srgbClr val="C00000"/>
                </a:solidFill>
                <a:latin typeface="Times New Roman"/>
                <a:ea typeface="Times New Roman"/>
                <a:cs typeface="Times New Roman"/>
                <a:sym typeface="Times New Roman"/>
              </a:rPr>
              <a:t xml:space="preserve">97–100%</a:t>
            </a:r>
          </a:p>
          <a:p>
            <a:pPr marL="285750" indent="-285750" algn="l">
              <a:lnSpc>
                <a:spcPct val="95000"/>
              </a:lnSpc>
              <a:spcBef>
                <a:spcPts val="900"/>
              </a:spcBef>
              <a:buClr>
                <a:srgbClr val="C00000"/>
              </a:buClr>
              <a:buSzPct val="100000"/>
              <a:buFont typeface="Arial"/>
              <a:buChar char="•"/>
            </a:pPr>
            <a:r>
              <a:rPr lang="vi-VN" sz="1600" b="0" i="0" dirty="0">
                <a:solidFill>
                  <a:srgbClr val="262626"/>
                </a:solidFill>
                <a:latin typeface="Times New Roman"/>
                <a:ea typeface="Times New Roman"/>
                <a:cs typeface="Times New Roman"/>
                <a:sym typeface="Times New Roman"/>
              </a:rPr>
              <a:t xml:space="preserve">Dữ liệu thật: </a:t>
            </a:r>
            <a:r>
              <a:rPr lang="vi-VN" sz="1600" b="1" i="0" dirty="0">
                <a:solidFill>
                  <a:srgbClr val="262626"/>
                </a:solidFill>
                <a:latin typeface="Times New Roman"/>
                <a:ea typeface="Times New Roman"/>
                <a:cs typeface="Times New Roman"/>
                <a:sym typeface="Times New Roman"/>
              </a:rPr>
              <a:t xml:space="preserve">13.678</a:t>
            </a:r>
            <a:r>
              <a:rPr lang="vi-VN" sz="1600" b="0" i="0" dirty="0">
                <a:solidFill>
                  <a:srgbClr val="262626"/>
                </a:solidFill>
                <a:latin typeface="Times New Roman"/>
                <a:ea typeface="Times New Roman"/>
                <a:cs typeface="Times New Roman"/>
                <a:sym typeface="Times New Roman"/>
              </a:rPr>
              <a:t xml:space="preserve"> bất thường; ngày bất thường nhất </a:t>
            </a:r>
            <a:r>
              <a:rPr lang="vi-VN" sz="1600" b="1" i="0" dirty="0">
                <a:solidFill>
                  <a:srgbClr val="C00000"/>
                </a:solidFill>
                <a:latin typeface="Times New Roman"/>
                <a:ea typeface="Times New Roman"/>
                <a:cs typeface="Times New Roman"/>
                <a:sym typeface="Times New Roman"/>
              </a:rPr>
              <a:t xml:space="preserve">13/02/2024</a:t>
            </a:r>
            <a:r>
              <a:rPr lang="vi-VN" sz="1600" b="0" i="0" dirty="0">
                <a:solidFill>
                  <a:srgbClr val="262626"/>
                </a:solidFill>
                <a:latin typeface="Times New Roman"/>
                <a:ea typeface="Times New Roman"/>
                <a:cs typeface="Times New Roman"/>
                <a:sym typeface="Times New Roman"/>
              </a:rPr>
              <a:t xml:space="preserve"> (10,7%, bão tuyết ~16 cm, đường vắng); các ngày lễ 01/01, 04/07</a:t>
            </a:r>
          </a:p>
        </p:txBody>
      </p:sp>
      <p:pic>
        <p:nvPicPr>
          <p:cNvPr id="95" name="Picture 94" descr="h5_bat_thuong.png"/>
          <p:cNvPicPr>
            <a:picLocks noChangeAspect="1"/>
          </p:cNvPicPr>
          <p:nvPr/>
        </p:nvPicPr>
        <p:blipFill>
          <a:blip r:embed="rId2"/>
          <a:stretch>
            <a:fillRect/>
          </a:stretch>
        </p:blipFill>
        <p:spPr>
          <a:xfrm>
            <a:off x="457200" y="3429000"/>
            <a:ext cx="8229600" cy="27432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latin typeface="Times New Roman"/>
                <a:ea typeface="Times New Roman"/>
                <a:cs typeface="Times New Roman"/>
                <a:sym typeface="Times New Roman"/>
              </a:rPr>
              <a:t>Hệ thống và kết luận</a:t>
            </a:r>
          </a:p>
        </p:txBody>
      </p:sp>
      <p:sp>
        <p:nvSpPr>
          <p:cNvPr id="3" name="RAG nhan Phạm vi"/>
          <p:cNvSpPr txBox="1"/>
          <p:nvPr/>
        </p:nvSpPr>
        <p:spPr>
          <a:xfrm>
            <a:off x="0" y="930000"/>
            <a:ext cx="1828800" cy="300000"/>
          </a:xfrm>
          <a:prstGeom prst="rect">
            <a:avLst/>
          </a:prstGeom>
          <a:noFill/>
        </p:spPr>
        <p:txBody>
          <a:bodyPr wrap="square" anchor="t" lIns="0" rIns="0" tIns="0" bIns="0">
            <a:spAutoFit/>
          </a:bodyPr>
          <a:lstStyle/>
          <a:p>
            <a:pPr algn="ctr"/>
            <a:r>
              <a:rPr sz="1400" b="1" i="0">
                <a:solidFill>
                  <a:srgbClr val="262626"/>
                </a:solidFill>
                <a:latin typeface="Times New Roman"/>
                <a:ea typeface="Times New Roman"/>
                <a:cs typeface="Times New Roman"/>
                <a:sym typeface="Times New Roman"/>
              </a:rPr>
              <a:t>PostgreSQL</a:t>
            </a:r>
          </a:p>
        </p:txBody>
      </p:sp>
      <p:sp>
        <p:nvSpPr>
          <p:cNvPr id="4" name="RAG Phạm vi"/>
          <p:cNvSpPr/>
          <p:nvPr/>
        </p:nvSpPr>
        <p:spPr>
          <a:xfrm>
            <a:off x="764400" y="1260000"/>
            <a:ext cx="300000" cy="300000"/>
          </a:xfrm>
          <a:prstGeom prst="ellipse">
            <a:avLst/>
          </a:prstGeom>
          <a:solidFill>
            <a:srgbClr val="00A6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AG nhan Tiến độ"/>
          <p:cNvSpPr txBox="1"/>
          <p:nvPr/>
        </p:nvSpPr>
        <p:spPr>
          <a:xfrm>
            <a:off x="1828800" y="930000"/>
            <a:ext cx="1828800" cy="300000"/>
          </a:xfrm>
          <a:prstGeom prst="rect">
            <a:avLst/>
          </a:prstGeom>
          <a:noFill/>
        </p:spPr>
        <p:txBody>
          <a:bodyPr wrap="square" anchor="t" lIns="0" rIns="0" tIns="0" bIns="0">
            <a:spAutoFit/>
          </a:bodyPr>
          <a:lstStyle/>
          <a:p>
            <a:pPr algn="ctr"/>
            <a:r>
              <a:rPr sz="1400" b="1" i="0">
                <a:solidFill>
                  <a:srgbClr val="262626"/>
                </a:solidFill>
                <a:latin typeface="Times New Roman"/>
                <a:ea typeface="Times New Roman"/>
                <a:cs typeface="Times New Roman"/>
                <a:sym typeface="Times New Roman"/>
              </a:rPr>
              <a:t>FastAPI</a:t>
            </a:r>
          </a:p>
        </p:txBody>
      </p:sp>
      <p:sp>
        <p:nvSpPr>
          <p:cNvPr id="6" name="RAG Tiến độ"/>
          <p:cNvSpPr/>
          <p:nvPr/>
        </p:nvSpPr>
        <p:spPr>
          <a:xfrm>
            <a:off x="2593200" y="1260000"/>
            <a:ext cx="300000" cy="300000"/>
          </a:xfrm>
          <a:prstGeom prst="ellipse">
            <a:avLst/>
          </a:prstGeom>
          <a:solidFill>
            <a:srgbClr val="00A6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AG nhan Chi phí"/>
          <p:cNvSpPr txBox="1"/>
          <p:nvPr/>
        </p:nvSpPr>
        <p:spPr>
          <a:xfrm>
            <a:off x="3657600" y="930000"/>
            <a:ext cx="1828800" cy="300000"/>
          </a:xfrm>
          <a:prstGeom prst="rect">
            <a:avLst/>
          </a:prstGeom>
          <a:noFill/>
        </p:spPr>
        <p:txBody>
          <a:bodyPr wrap="square" anchor="t" lIns="0" rIns="0" tIns="0" bIns="0">
            <a:spAutoFit/>
          </a:bodyPr>
          <a:lstStyle/>
          <a:p>
            <a:pPr algn="ctr"/>
            <a:r>
              <a:rPr sz="1400" b="1" i="0">
                <a:solidFill>
                  <a:srgbClr val="262626"/>
                </a:solidFill>
                <a:latin typeface="Times New Roman"/>
                <a:ea typeface="Times New Roman"/>
                <a:cs typeface="Times New Roman"/>
                <a:sym typeface="Times New Roman"/>
              </a:rPr>
              <a:t>Dashboard</a:t>
            </a:r>
          </a:p>
        </p:txBody>
      </p:sp>
      <p:sp>
        <p:nvSpPr>
          <p:cNvPr id="8" name="RAG Chi phí"/>
          <p:cNvSpPr/>
          <p:nvPr/>
        </p:nvSpPr>
        <p:spPr>
          <a:xfrm>
            <a:off x="4422000" y="1260000"/>
            <a:ext cx="300000" cy="300000"/>
          </a:xfrm>
          <a:prstGeom prst="ellipse">
            <a:avLst/>
          </a:prstGeom>
          <a:solidFill>
            <a:srgbClr val="00A6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AG nhan Rủi ro"/>
          <p:cNvSpPr txBox="1"/>
          <p:nvPr/>
        </p:nvSpPr>
        <p:spPr>
          <a:xfrm>
            <a:off x="5486400" y="930000"/>
            <a:ext cx="1828800" cy="300000"/>
          </a:xfrm>
          <a:prstGeom prst="rect">
            <a:avLst/>
          </a:prstGeom>
          <a:noFill/>
        </p:spPr>
        <p:txBody>
          <a:bodyPr wrap="square" anchor="t" lIns="0" rIns="0" tIns="0" bIns="0">
            <a:spAutoFit/>
          </a:bodyPr>
          <a:lstStyle/>
          <a:p>
            <a:pPr algn="ctr"/>
            <a:r>
              <a:rPr sz="1400" b="1" i="0">
                <a:solidFill>
                  <a:srgbClr val="262626"/>
                </a:solidFill>
                <a:latin typeface="Times New Roman"/>
                <a:ea typeface="Times New Roman"/>
                <a:cs typeface="Times New Roman"/>
                <a:sym typeface="Times New Roman"/>
              </a:rPr>
              <a:t>Docker</a:t>
            </a:r>
          </a:p>
        </p:txBody>
      </p:sp>
      <p:sp>
        <p:nvSpPr>
          <p:cNvPr id="10" name="RAG Rủi ro"/>
          <p:cNvSpPr/>
          <p:nvPr/>
        </p:nvSpPr>
        <p:spPr>
          <a:xfrm>
            <a:off x="6250800" y="1260000"/>
            <a:ext cx="300000" cy="300000"/>
          </a:xfrm>
          <a:prstGeom prst="ellipse">
            <a:avLst/>
          </a:prstGeom>
          <a:solidFill>
            <a:srgbClr val="00A6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AG nhan Chất lượng"/>
          <p:cNvSpPr txBox="1"/>
          <p:nvPr/>
        </p:nvSpPr>
        <p:spPr>
          <a:xfrm>
            <a:off x="7315200" y="930000"/>
            <a:ext cx="1828800" cy="300000"/>
          </a:xfrm>
          <a:prstGeom prst="rect">
            <a:avLst/>
          </a:prstGeom>
          <a:noFill/>
        </p:spPr>
        <p:txBody>
          <a:bodyPr wrap="square" anchor="t" lIns="0" rIns="0" tIns="0" bIns="0">
            <a:spAutoFit/>
          </a:bodyPr>
          <a:lstStyle/>
          <a:p>
            <a:pPr algn="ctr"/>
            <a:r>
              <a:rPr sz="1400" b="1" i="0">
                <a:solidFill>
                  <a:srgbClr val="262626"/>
                </a:solidFill>
                <a:latin typeface="Times New Roman"/>
                <a:ea typeface="Times New Roman"/>
                <a:cs typeface="Times New Roman"/>
                <a:sym typeface="Times New Roman"/>
              </a:rPr>
              <a:t>Kiểm thử</a:t>
            </a:r>
          </a:p>
        </p:txBody>
      </p:sp>
      <p:sp>
        <p:nvSpPr>
          <p:cNvPr id="12" name="RAG Chất lượng"/>
          <p:cNvSpPr/>
          <p:nvPr/>
        </p:nvSpPr>
        <p:spPr>
          <a:xfrm>
            <a:off x="8079600" y="1260000"/>
            <a:ext cx="300000" cy="300000"/>
          </a:xfrm>
          <a:prstGeom prst="ellipse">
            <a:avLst/>
          </a:prstGeom>
          <a:solidFill>
            <a:srgbClr val="00A6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8600" y="4206240"/>
            <a:ext cx="8686800" cy="2011680"/>
          </a:xfrm>
          <a:prstGeom prst="rect">
            <a:avLst/>
          </a:prstGeom>
          <a:noFill/>
        </p:spPr>
        <p:txBody>
          <a:bodyPr wrap="square" lIns="0" rIns="0" tIns="0" bIns="0">
            <a:spAutoFit/>
          </a:bodyPr>
          <a:lstStyle/>
          <a:p>
            <a:pPr marL="285750" indent="-285750" algn="l">
              <a:lnSpc>
                <a:spcPct val="95000"/>
              </a:lnSpc>
              <a:spcBef>
                <a:spcPts val="0"/>
              </a:spcBef>
              <a:buClr>
                <a:srgbClr val="C00000"/>
              </a:buClr>
              <a:buSzPct val="100000"/>
              <a:buFont typeface="Arial"/>
              <a:buChar char="•"/>
            </a:pPr>
            <a:r>
              <a:rPr lang="vi-VN" sz="1500" b="1" i="0" dirty="0">
                <a:solidFill>
                  <a:srgbClr val="262626"/>
                </a:solidFill>
                <a:latin typeface="Times New Roman"/>
                <a:ea typeface="Times New Roman"/>
                <a:cs typeface="Times New Roman"/>
                <a:sym typeface="Times New Roman"/>
              </a:rPr>
              <a:t xml:space="preserve">Hạn chế:</a:t>
            </a:r>
            <a:r>
              <a:rPr lang="vi-VN" sz="1500" b="0" i="0" dirty="0">
                <a:solidFill>
                  <a:srgbClr val="262626"/>
                </a:solidFill>
                <a:latin typeface="Times New Roman"/>
                <a:ea typeface="Times New Roman"/>
                <a:cs typeface="Times New Roman"/>
                <a:sym typeface="Times New Roman"/>
              </a:rPr>
              <a:t xml:space="preserve"> Spark chạy 1 máy 2 nhân; 1 năm dữ liệu, chỉ 1 trận tuyết lớn; lưu lượng đếm theo đợt quá thưa</a:t>
            </a:r>
          </a:p>
          <a:p>
            <a:pPr marL="285750" indent="-285750" algn="l">
              <a:lnSpc>
                <a:spcPct val="95000"/>
              </a:lnSpc>
              <a:spcBef>
                <a:spcPts val="900"/>
              </a:spcBef>
              <a:buClr>
                <a:srgbClr val="C00000"/>
              </a:buClr>
              <a:buSzPct val="100000"/>
              <a:buFont typeface="Arial"/>
              <a:buChar char="•"/>
            </a:pPr>
            <a:r>
              <a:rPr lang="vi-VN" sz="1500" b="1" i="0" dirty="0">
                <a:solidFill>
                  <a:srgbClr val="262626"/>
                </a:solidFill>
                <a:latin typeface="Times New Roman"/>
                <a:ea typeface="Times New Roman"/>
                <a:cs typeface="Times New Roman"/>
                <a:sym typeface="Times New Roman"/>
              </a:rPr>
              <a:t xml:space="preserve">Hướng phát triển:</a:t>
            </a:r>
            <a:r>
              <a:rPr lang="vi-VN" sz="1500" b="0" i="0" dirty="0">
                <a:solidFill>
                  <a:srgbClr val="262626"/>
                </a:solidFill>
                <a:latin typeface="Times New Roman"/>
                <a:ea typeface="Times New Roman"/>
                <a:cs typeface="Times New Roman"/>
                <a:sym typeface="Times New Roman"/>
              </a:rPr>
              <a:t xml:space="preserve"> baseline trượt cho phát hiện bất thường, thêm dữ liệu sự cố/thi công, mô hình học máy dự báo tốc độ</a:t>
            </a:r>
          </a:p>
        </p:txBody>
      </p:sp>
      <p:graphicFrame>
        <p:nvGraphicFramePr>
          <p:cNvPr id="15" name="Table 14"/>
          <p:cNvGraphicFramePr>
            <a:graphicFrameLocks noGrp="1"/>
          </p:cNvGraphicFramePr>
          <p:nvPr/>
        </p:nvGraphicFramePr>
        <p:xfrm>
          <a:off x="228600" y="1737360"/>
          <a:ext cx="8686800" cy="2304288"/>
        </p:xfrm>
        <a:graphic>
          <a:graphicData uri="http://schemas.openxmlformats.org/drawingml/2006/table">
            <a:tbl>
              <a:tblPr firstRow="1" bandRow="0"/>
              <a:tblGrid>
                <a:gridCol w="2011680"/>
                <a:gridCol w="2743200"/>
                <a:gridCol w="3931920"/>
              </a:tblGrid>
              <a:tr h="384048">
                <a:tc>
                  <a:txBody>
                    <a:bodyPr wrap="square"/>
                    <a:lstStyle/>
                    <a:p>
                      <a:pPr algn="ctr"/>
                      <a:r>
                        <a:rPr lang="vi-VN" sz="1400" b="1" i="0" dirty="0">
                          <a:solidFill>
                            <a:srgbClr val="FFFFFF"/>
                          </a:solidFill>
                          <a:latin typeface="Times New Roman"/>
                          <a:ea typeface="Times New Roman"/>
                          <a:cs typeface="Times New Roman"/>
                          <a:sym typeface="Times New Roman"/>
                        </a:rPr>
                        <a:t xml:space="preserve">Thành phần</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c>
                  <a:txBody>
                    <a:bodyPr wrap="square"/>
                    <a:lstStyle/>
                    <a:p>
                      <a:pPr algn="ctr"/>
                      <a:r>
                        <a:rPr lang="vi-VN" sz="1400" b="1" i="0" dirty="0">
                          <a:solidFill>
                            <a:srgbClr val="FFFFFF"/>
                          </a:solidFill>
                          <a:latin typeface="Times New Roman"/>
                          <a:ea typeface="Times New Roman"/>
                          <a:cs typeface="Times New Roman"/>
                          <a:sym typeface="Times New Roman"/>
                        </a:rPr>
                        <a:t xml:space="preserve">Kết quả</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c>
                  <a:txBody>
                    <a:bodyPr wrap="square"/>
                    <a:lstStyle/>
                    <a:p>
                      <a:pPr algn="ctr"/>
                      <a:r>
                        <a:rPr lang="vi-VN" sz="1400" b="1" i="0" dirty="0">
                          <a:solidFill>
                            <a:srgbClr val="FFFFFF"/>
                          </a:solidFill>
                          <a:latin typeface="Times New Roman"/>
                          <a:ea typeface="Times New Roman"/>
                          <a:cs typeface="Times New Roman"/>
                          <a:sym typeface="Times New Roman"/>
                        </a:rPr>
                        <a:t xml:space="preserve">Ghi chú</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r>
              <a:tr h="384048">
                <a:tc>
                  <a:txBody>
                    <a:bodyPr wrap="square"/>
                    <a:lstStyle/>
                    <a:p>
                      <a:pPr algn="l"/>
                      <a:r>
                        <a:rPr lang="vi-VN" sz="1400" b="1" i="0" dirty="0">
                          <a:solidFill>
                            <a:srgbClr val="262626"/>
                          </a:solidFill>
                          <a:latin typeface="Times New Roman"/>
                          <a:ea typeface="Times New Roman"/>
                          <a:cs typeface="Times New Roman"/>
                          <a:sym typeface="Times New Roman"/>
                        </a:rPr>
                        <a:t xml:space="preserve">PostgreSQL 16</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wrap="square"/>
                    <a:lstStyle/>
                    <a:p>
                      <a:pPr algn="ctr"/>
                      <a:r>
                        <a:rPr lang="vi-VN" sz="1400" b="0" i="0" dirty="0">
                          <a:solidFill>
                            <a:srgbClr val="262626"/>
                          </a:solidFill>
                          <a:latin typeface="Times New Roman"/>
                          <a:ea typeface="Times New Roman"/>
                          <a:cs typeface="Times New Roman"/>
                          <a:sym typeface="Times New Roman"/>
                        </a:rPr>
                        <a:t xml:space="preserve">9 bảng, 864.750 dòng</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wrap="square"/>
                    <a:lstStyle/>
                    <a:p>
                      <a:pPr algn="l"/>
                      <a:r>
                        <a:rPr lang="vi-VN" sz="1400" b="0" i="0" dirty="0">
                          <a:solidFill>
                            <a:srgbClr val="262626"/>
                          </a:solidFill>
                          <a:latin typeface="Times New Roman"/>
                          <a:ea typeface="Times New Roman"/>
                          <a:cs typeface="Times New Roman"/>
                          <a:sym typeface="Times New Roman"/>
                        </a:rPr>
                        <a:t xml:space="preserve">CHECK sinh từ contract, Alembic</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r h="384048">
                <a:tc>
                  <a:txBody>
                    <a:bodyPr wrap="square"/>
                    <a:lstStyle/>
                    <a:p>
                      <a:pPr algn="l"/>
                      <a:r>
                        <a:rPr lang="vi-VN" sz="1400" b="1" i="0" dirty="0">
                          <a:solidFill>
                            <a:srgbClr val="262626"/>
                          </a:solidFill>
                          <a:latin typeface="Times New Roman"/>
                          <a:ea typeface="Times New Roman"/>
                          <a:cs typeface="Times New Roman"/>
                          <a:sym typeface="Times New Roman"/>
                        </a:rPr>
                        <a:t xml:space="preserve">FastAPI</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7ECEC"/>
                    </a:solidFill>
                  </a:tcPr>
                </a:tc>
                <a:tc>
                  <a:txBody>
                    <a:bodyPr wrap="square"/>
                    <a:lstStyle/>
                    <a:p>
                      <a:pPr algn="ctr"/>
                      <a:r>
                        <a:rPr lang="vi-VN" sz="1400" b="0" i="0" dirty="0">
                          <a:solidFill>
                            <a:srgbClr val="262626"/>
                          </a:solidFill>
                          <a:latin typeface="Times New Roman"/>
                          <a:ea typeface="Times New Roman"/>
                          <a:cs typeface="Times New Roman"/>
                          <a:sym typeface="Times New Roman"/>
                        </a:rPr>
                        <a:t xml:space="preserve">27 endpoint</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7ECEC"/>
                    </a:solidFill>
                  </a:tcPr>
                </a:tc>
                <a:tc>
                  <a:txBody>
                    <a:bodyPr wrap="square"/>
                    <a:lstStyle/>
                    <a:p>
                      <a:pPr algn="l"/>
                      <a:r>
                        <a:rPr lang="vi-VN" sz="1400" b="0" i="0" dirty="0">
                          <a:solidFill>
                            <a:srgbClr val="262626"/>
                          </a:solidFill>
                          <a:latin typeface="Times New Roman"/>
                          <a:ea typeface="Times New Roman"/>
                          <a:cs typeface="Times New Roman"/>
                          <a:sym typeface="Times New Roman"/>
                        </a:rPr>
                        <a:t xml:space="preserve">Tài liệu tự sinh tại /docs</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7ECEC"/>
                    </a:solidFill>
                  </a:tcPr>
                </a:tc>
              </a:tr>
              <a:tr h="384048">
                <a:tc>
                  <a:txBody>
                    <a:bodyPr wrap="square"/>
                    <a:lstStyle/>
                    <a:p>
                      <a:pPr algn="l"/>
                      <a:r>
                        <a:rPr lang="vi-VN" sz="1400" b="1" i="0" dirty="0">
                          <a:solidFill>
                            <a:srgbClr val="262626"/>
                          </a:solidFill>
                          <a:latin typeface="Times New Roman"/>
                          <a:ea typeface="Times New Roman"/>
                          <a:cs typeface="Times New Roman"/>
                          <a:sym typeface="Times New Roman"/>
                        </a:rPr>
                        <a:t xml:space="preserve">Dashboard</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wrap="square"/>
                    <a:lstStyle/>
                    <a:p>
                      <a:pPr algn="ctr"/>
                      <a:r>
                        <a:rPr lang="vi-VN" sz="1400" b="0" i="0" dirty="0">
                          <a:solidFill>
                            <a:srgbClr val="262626"/>
                          </a:solidFill>
                          <a:latin typeface="Times New Roman"/>
                          <a:ea typeface="Times New Roman"/>
                          <a:cs typeface="Times New Roman"/>
                          <a:sym typeface="Times New Roman"/>
                        </a:rPr>
                        <a:t xml:space="preserve">6 tab</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wrap="square"/>
                    <a:lstStyle/>
                    <a:p>
                      <a:pPr algn="l"/>
                      <a:r>
                        <a:rPr lang="vi-VN" sz="1400" b="0" i="0" dirty="0">
                          <a:solidFill>
                            <a:srgbClr val="262626"/>
                          </a:solidFill>
                          <a:latin typeface="Times New Roman"/>
                          <a:ea typeface="Times New Roman"/>
                          <a:cs typeface="Times New Roman"/>
                          <a:sym typeface="Times New Roman"/>
                        </a:rPr>
                        <a:t xml:space="preserve">Chart.js + Leaflet</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r h="384048">
                <a:tc>
                  <a:txBody>
                    <a:bodyPr wrap="square"/>
                    <a:lstStyle/>
                    <a:p>
                      <a:pPr algn="l"/>
                      <a:r>
                        <a:rPr lang="vi-VN" sz="1400" b="1" i="0" dirty="0">
                          <a:solidFill>
                            <a:srgbClr val="262626"/>
                          </a:solidFill>
                          <a:latin typeface="Times New Roman"/>
                          <a:ea typeface="Times New Roman"/>
                          <a:cs typeface="Times New Roman"/>
                          <a:sym typeface="Times New Roman"/>
                        </a:rPr>
                        <a:t xml:space="preserve">Kiểm thử</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7ECEC"/>
                    </a:solidFill>
                  </a:tcPr>
                </a:tc>
                <a:tc>
                  <a:txBody>
                    <a:bodyPr wrap="square"/>
                    <a:lstStyle/>
                    <a:p>
                      <a:pPr algn="ctr"/>
                      <a:r>
                        <a:rPr lang="vi-VN" sz="1400" b="0" i="0" dirty="0">
                          <a:solidFill>
                            <a:srgbClr val="262626"/>
                          </a:solidFill>
                          <a:latin typeface="Times New Roman"/>
                          <a:ea typeface="Times New Roman"/>
                          <a:cs typeface="Times New Roman"/>
                          <a:sym typeface="Times New Roman"/>
                        </a:rPr>
                        <a:t xml:space="preserve">39 + 22 test, </a:t>
                      </a:r>
                      <a:r>
                        <a:rPr lang="vi-VN" sz="1400" b="1" i="0" dirty="0">
                          <a:solidFill>
                            <a:srgbClr val="C00000"/>
                          </a:solidFill>
                          <a:latin typeface="Times New Roman"/>
                          <a:ea typeface="Times New Roman"/>
                          <a:cs typeface="Times New Roman"/>
                          <a:sym typeface="Times New Roman"/>
                        </a:rPr>
                        <a:t xml:space="preserve">E2E 18/18</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7ECEC"/>
                    </a:solidFill>
                  </a:tcPr>
                </a:tc>
                <a:tc>
                  <a:txBody>
                    <a:bodyPr wrap="square"/>
                    <a:lstStyle/>
                    <a:p>
                      <a:pPr algn="l"/>
                      <a:r>
                        <a:rPr lang="vi-VN" sz="1400" b="0" i="0" dirty="0">
                          <a:solidFill>
                            <a:srgbClr val="262626"/>
                          </a:solidFill>
                          <a:latin typeface="Times New Roman"/>
                          <a:ea typeface="Times New Roman"/>
                          <a:cs typeface="Times New Roman"/>
                          <a:sym typeface="Times New Roman"/>
                        </a:rPr>
                        <a:t xml:space="preserve">Chạy trong Docker, nạp dữ liệu 44,4 s</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7ECEC"/>
                    </a:solidFill>
                  </a:tcPr>
                </a:tc>
              </a:tr>
              <a:tr h="384048">
                <a:tc>
                  <a:txBody>
                    <a:bodyPr wrap="square"/>
                    <a:lstStyle/>
                    <a:p>
                      <a:pPr algn="l"/>
                      <a:r>
                        <a:rPr lang="vi-VN" sz="1400" b="1" i="0" dirty="0">
                          <a:solidFill>
                            <a:srgbClr val="262626"/>
                          </a:solidFill>
                          <a:latin typeface="Times New Roman"/>
                          <a:ea typeface="Times New Roman"/>
                          <a:cs typeface="Times New Roman"/>
                          <a:sym typeface="Times New Roman"/>
                        </a:rPr>
                        <a:t xml:space="preserve">Definition of Done</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wrap="square"/>
                    <a:lstStyle/>
                    <a:p>
                      <a:pPr algn="ctr"/>
                      <a:r>
                        <a:rPr lang="vi-VN" sz="1400" b="1" i="0" dirty="0">
                          <a:solidFill>
                            <a:srgbClr val="C00000"/>
                          </a:solidFill>
                          <a:latin typeface="Times New Roman"/>
                          <a:ea typeface="Times New Roman"/>
                          <a:cs typeface="Times New Roman"/>
                          <a:sym typeface="Times New Roman"/>
                        </a:rPr>
                        <a:t xml:space="preserve">17/17</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wrap="square"/>
                    <a:lstStyle/>
                    <a:p>
                      <a:pPr algn="l"/>
                      <a:r>
                        <a:rPr lang="vi-VN" sz="1400" b="0" i="0" dirty="0">
                          <a:solidFill>
                            <a:srgbClr val="262626"/>
                          </a:solidFill>
                          <a:latin typeface="Times New Roman"/>
                          <a:ea typeface="Times New Roman"/>
                          <a:cs typeface="Times New Roman"/>
                          <a:sym typeface="Times New Roman"/>
                        </a:rPr>
                        <a:t xml:space="preserve">Bảng đối chiếu trong </a:t>
                      </a:r>
                      <a:r>
                        <a:rPr lang="vi-VN" sz="1400" b="0" i="0" dirty="0">
                          <a:solidFill>
                            <a:srgbClr val="262626"/>
                          </a:solidFill>
                          <a:latin typeface="Courier New"/>
                          <a:ea typeface="Courier New"/>
                          <a:cs typeface="Courier New"/>
                          <a:sym typeface="Courier New"/>
                        </a:rPr>
                        <a:t xml:space="preserve">22_tong_ket.md</a:t>
                      </a:r>
                    </a:p>
                  </a:txBody>
                  <a:tcPr marL="64000" marR="64000" marT="30000" marB="3000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6"/>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6" name="Google Shape;176;p16"/>
          <p:cNvSpPr txBox="1"/>
          <p:nvPr/>
        </p:nvSpPr>
        <p:spPr>
          <a:xfrm>
            <a:off x="3917659" y="3013602"/>
            <a:ext cx="4587245" cy="81401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C00000"/>
              </a:buClr>
              <a:buSzPts val="4800"/>
              <a:buFont typeface="Times New Roman"/>
              <a:buNone/>
            </a:pPr>
            <a:r>
              <a:rPr b="1" lang="en-US" sz="4800">
                <a:solidFill>
                  <a:srgbClr val="C00000"/>
                </a:solidFill>
                <a:latin typeface="Times New Roman"/>
                <a:ea typeface="Times New Roman"/>
                <a:cs typeface="Times New Roman"/>
                <a:sym typeface="Times New Roman"/>
              </a:rPr>
              <a:t>THANK YOU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2021-05-28T04:32:29Z</dcterms:created>
  <dc:creator>Nhóm đồ án IT5427</dc:creator>
  <cp:lastModifiedBy>Nhóm đồ án IT5427</cp:lastModifiedBy>
  <dc:title>Đồ án IT5427 – Tích hợp và xử lý dữ liệu lớn</dc:title>
</cp:coreProperties>
</file>